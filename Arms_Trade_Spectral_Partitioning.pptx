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725"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2904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Good morning. We are Raaghavan and Sriman from CSE-D. Our case study is "Analyzing Global Arms Trade using Spectral Partitioning". In short: we took 75 years of weapons deals between countries, drew them as a graph, and let a graph-mining method find the sides of world politics by itself. Raaghavan will explain the problem, the data and the method. Sriman will explain the results and how we checked them. We will finish together.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Raaghavan: Why weapons? A weapons deal is a long friendship: the buyer depends on the seller for spare parts, training and repairs for years, so countries only buy weapons from friends. Friendships between countries are often secret, but weapons deals are not. SIPRI, a research institute in Sweden, has recorded every major deal since 1950. So the weapons trade is a good map of world politics. A graph is the natural tool, because we care about who is joined to whom, and finding sides is a standard graph task called community detection. Our problem: using only the list of deals, split the countries into groups that trade a lot inside and little outside, and then prove those groups are real and not luck.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Raaghavan: Our data is the SIPRI Arms Transfers Database, downloaded on 3 August 2026. The file has 29,916 rows; after cleaning we kept 28,108 deals. We removed 63 names that are not countries, like rebel groups, NATO and the UN, and 1,196 rows with no year. Deals delivered over many years were shared equally between those years. One year has too few deals, so each graph uses a 10-year window: the 1987 graph holds all deals from 1978 to 1987. That gives 67 graphs from 1959 to 2025, with 194 countries and 2,847 seller-buyer pairs in total. A node is a country, an edge is weapons sold, and the weight is the amount in TIV, SIPRI's unit of military value. We made the lines two-way, because friendship goes both ways. The key fix: a few giant deals are 75,000 times bigger than small ones, and with raw numbers the result was worse than random. Taking log of 1 plus TIV fixed it. The picture shows the 1978 to 1987 graph; the colours are the groups we found, and India sits between them.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Raaghavan: Our method is spectral partitioning, the normalised version by Ng, Jordan and Weiss, 2002. We want to cut the graph into two groups while cutting as few strong lines as possible. Trying every cut is impossible: 155 countries have about 2 to the power 154 ways to split. So here is the trick: think of the lines as ropes and shake the whole graph. Countries tied tightly together move together. The slowest wobble moves one group up and the other down. That wobble is the second eigenvector of the Laplacian, called the Fiedler vector. Each country gets one number, and the sign tells its group. The picture is our website's toy village: after the shake only 2 ropes are cut, the fewest possible. The steps at the bottom: build the weight table W and degrees D, make the normalised Laplacian, find its eigenvalues and eigenvectors, choose the number of groups at the biggest eigenvalue jump, and run k-means on the first k eigenvectors. We wrote this ourselves in Python with NumPy, SciPy and scikit-learn. The slowest step is finding eigenvalues, O(n cubed), but n is at most 174, so all 67 years plus the tests run in about 97 seconds. Now Sriman will show the results.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Sriman: So who ended up together? In 1956 to 1965, Group A is the Soviet Union, China, Poland, East Germany, Czechoslovakia and Hungary. Group B is the United States, United Kingdom, Germany, France, Italy and Japan. The program was never told about any alliance, yet Group A is the Warsaw Pact and Group B is NATO. In 2016 to 2025, Group A is led by Russia with India, China, Egypt, Pakistan and Algeria; Group B is led by the United States with France, Saudi Arabia, Germany, South Korea and Ukraine. Some countries trade with both sides; we found them using betweenness centrality, which measures how often a country lies on the path between two others. The clearest is India: in 1978 to 1987 its biggest seller was the Soviet Union, but it also bought from Britain, France and West Germany, so 43 percent of its trade crossed sides.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Sriman: How do we know this is not just luck? We made fake copies of the world: the same countries and the same number of deals, but joined at random, like shuffling a pack of cards. We ran the same steps on them, 10 times for every year, and compared. First, the real sides are about 14 times clearer than in the fake copies, and much clearer in every single year. Second, out of 100 countries, 97 stay on the same side the next year; in the fake copies only 55 do, which is close to tossing a coin. Third, in 1987 only 18 out of 100 trade links crossed between the two sides, against 34 in a fake copy. So the two sides really come from the data, not from luck.</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Sriman: To conclude: we modelled the world weapons trade as a graph, with countries as nodes and deals as weighted edges. Spectral partitioning split it into two sides in every year, matching the real Cold War blocs, and the split is far stronger than in random networks. So graph mining can find real political groups from trade data alone. Raaghavan: Our biggest lesson is that how you build the graph matters more than the algorithm. With raw weights the method failed; one small change, taking the logarithm, made it work. Testing against shuffled networks also taught us to prove a result, not just show it. Our limits: every country gets exactly one group, even neutral ones; SIPRI counts only major weapons, not small arms; and the 10-year window makes changes show up slowly. We also built a website that explains all of this with a toy village and a 3D globe of the real data. Both: Thank you. We are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13A"/>
        </a:solidFill>
        <a:effectLst/>
      </p:bgPr>
    </p:bg>
    <p:spTree>
      <p:nvGrpSpPr>
        <p:cNvPr id="1" name=""/>
        <p:cNvGrpSpPr/>
        <p:nvPr/>
      </p:nvGrpSpPr>
      <p:grpSpPr>
        <a:xfrm>
          <a:off x="0" y="0"/>
          <a:ext cx="0" cy="0"/>
          <a:chOff x="0" y="0"/>
          <a:chExt cx="0" cy="0"/>
        </a:xfrm>
      </p:grpSpPr>
      <p:cxnSp>
        <p:nvCxnSpPr>
          <p:cNvPr id="2" name="Connector 1"/>
          <p:cNvCxnSpPr/>
          <p:nvPr/>
        </p:nvCxnSpPr>
        <p:spPr>
          <a:xfrm flipV="1">
            <a:off x="8394700" y="2222500"/>
            <a:ext cx="635000" cy="317500"/>
          </a:xfrm>
          <a:prstGeom prst="line">
            <a:avLst/>
          </a:prstGeom>
          <a:ln w="19050">
            <a:solidFill>
              <a:srgbClr val="4A5B80"/>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V="1">
            <a:off x="10045700" y="3175000"/>
            <a:ext cx="635000" cy="317500"/>
          </a:xfrm>
          <a:prstGeom prst="line">
            <a:avLst/>
          </a:prstGeom>
          <a:ln w="19050">
            <a:solidFill>
              <a:srgbClr val="4A5B8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9029700" y="2222500"/>
            <a:ext cx="381000" cy="635000"/>
          </a:xfrm>
          <a:prstGeom prst="line">
            <a:avLst/>
          </a:prstGeom>
          <a:ln w="19050">
            <a:solidFill>
              <a:srgbClr val="4A5B8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80700" y="3175000"/>
            <a:ext cx="254000" cy="635000"/>
          </a:xfrm>
          <a:prstGeom prst="line">
            <a:avLst/>
          </a:prstGeom>
          <a:ln w="19050">
            <a:solidFill>
              <a:srgbClr val="4A5B8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8839200" y="2857500"/>
            <a:ext cx="571500" cy="381000"/>
          </a:xfrm>
          <a:prstGeom prst="line">
            <a:avLst/>
          </a:prstGeom>
          <a:ln w="19050">
            <a:solidFill>
              <a:srgbClr val="4A5B8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490200" y="3810000"/>
            <a:ext cx="444500" cy="508000"/>
          </a:xfrm>
          <a:prstGeom prst="line">
            <a:avLst/>
          </a:prstGeom>
          <a:ln w="19050">
            <a:solidFill>
              <a:srgbClr val="4A5B8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8267700" y="3175000"/>
            <a:ext cx="571500" cy="63500"/>
          </a:xfrm>
          <a:prstGeom prst="line">
            <a:avLst/>
          </a:prstGeom>
          <a:ln w="19050">
            <a:solidFill>
              <a:srgbClr val="4A5B8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9918700" y="4127500"/>
            <a:ext cx="571500" cy="190500"/>
          </a:xfrm>
          <a:prstGeom prst="line">
            <a:avLst/>
          </a:prstGeom>
          <a:ln w="19050">
            <a:solidFill>
              <a:srgbClr val="4A5B8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8267700" y="2540000"/>
            <a:ext cx="127000" cy="635000"/>
          </a:xfrm>
          <a:prstGeom prst="line">
            <a:avLst/>
          </a:prstGeom>
          <a:ln w="19050">
            <a:solidFill>
              <a:srgbClr val="4A5B8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9918700" y="3492500"/>
            <a:ext cx="127000" cy="635000"/>
          </a:xfrm>
          <a:prstGeom prst="line">
            <a:avLst/>
          </a:prstGeom>
          <a:ln w="19050">
            <a:solidFill>
              <a:srgbClr val="4A5B8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394700" y="2540000"/>
            <a:ext cx="444500" cy="698500"/>
          </a:xfrm>
          <a:prstGeom prst="line">
            <a:avLst/>
          </a:prstGeom>
          <a:ln w="19050">
            <a:solidFill>
              <a:srgbClr val="4A5B8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45700" y="3492500"/>
            <a:ext cx="444500" cy="825500"/>
          </a:xfrm>
          <a:prstGeom prst="line">
            <a:avLst/>
          </a:prstGeom>
          <a:ln w="19050">
            <a:solidFill>
              <a:srgbClr val="4A5B8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8839200" y="2222500"/>
            <a:ext cx="190500" cy="1016000"/>
          </a:xfrm>
          <a:prstGeom prst="line">
            <a:avLst/>
          </a:prstGeom>
          <a:ln w="19050">
            <a:solidFill>
              <a:srgbClr val="4A5B8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10490200" y="3175000"/>
            <a:ext cx="190500" cy="1143000"/>
          </a:xfrm>
          <a:prstGeom prst="line">
            <a:avLst/>
          </a:prstGeom>
          <a:ln w="19050">
            <a:solidFill>
              <a:srgbClr val="4A5B8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3238500"/>
            <a:ext cx="254000" cy="444500"/>
          </a:xfrm>
          <a:prstGeom prst="line">
            <a:avLst/>
          </a:prstGeom>
          <a:ln w="19050">
            <a:solidFill>
              <a:srgbClr val="4A5B8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490200" y="4318000"/>
            <a:ext cx="317500" cy="317500"/>
          </a:xfrm>
          <a:prstGeom prst="line">
            <a:avLst/>
          </a:prstGeom>
          <a:ln w="19050">
            <a:solidFill>
              <a:srgbClr val="4A5B8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9093200" y="2857500"/>
            <a:ext cx="317500" cy="825500"/>
          </a:xfrm>
          <a:prstGeom prst="line">
            <a:avLst/>
          </a:prstGeom>
          <a:ln w="19050">
            <a:solidFill>
              <a:srgbClr val="4A5B8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807700" y="3810000"/>
            <a:ext cx="127000" cy="825500"/>
          </a:xfrm>
          <a:prstGeom prst="line">
            <a:avLst/>
          </a:prstGeom>
          <a:ln w="19050">
            <a:solidFill>
              <a:srgbClr val="4A5B8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9410700" y="2857500"/>
            <a:ext cx="254000" cy="508000"/>
          </a:xfrm>
          <a:prstGeom prst="line">
            <a:avLst/>
          </a:prstGeom>
          <a:ln w="12700">
            <a:solidFill>
              <a:srgbClr val="B9C4D6"/>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9093200" y="3365500"/>
            <a:ext cx="571500" cy="317500"/>
          </a:xfrm>
          <a:prstGeom prst="line">
            <a:avLst/>
          </a:prstGeom>
          <a:ln w="12700">
            <a:solidFill>
              <a:srgbClr val="B9C4D6"/>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64700" y="3365500"/>
            <a:ext cx="381000" cy="127000"/>
          </a:xfrm>
          <a:prstGeom prst="line">
            <a:avLst/>
          </a:prstGeom>
          <a:ln w="12700">
            <a:solidFill>
              <a:srgbClr val="B9C4D6"/>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664700" y="3365500"/>
            <a:ext cx="254000" cy="762000"/>
          </a:xfrm>
          <a:prstGeom prst="line">
            <a:avLst/>
          </a:prstGeom>
          <a:ln w="12700">
            <a:solidFill>
              <a:srgbClr val="B9C4D6"/>
            </a:solidFill>
            <a:prstDash val="dash"/>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8293100" y="2438400"/>
            <a:ext cx="203200" cy="203200"/>
          </a:xfrm>
          <a:prstGeom prst="ellipse">
            <a:avLst/>
          </a:prstGeom>
          <a:solidFill>
            <a:srgbClr val="8FB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902700" y="2095500"/>
            <a:ext cx="254000" cy="254000"/>
          </a:xfrm>
          <a:prstGeom prst="ellipse">
            <a:avLst/>
          </a:prstGeom>
          <a:solidFill>
            <a:srgbClr val="8FB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321800" y="2768600"/>
            <a:ext cx="177800" cy="177800"/>
          </a:xfrm>
          <a:prstGeom prst="ellipse">
            <a:avLst/>
          </a:prstGeom>
          <a:solidFill>
            <a:srgbClr val="8FB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686800" y="3086100"/>
            <a:ext cx="304800" cy="304800"/>
          </a:xfrm>
          <a:prstGeom prst="ellipse">
            <a:avLst/>
          </a:prstGeom>
          <a:solidFill>
            <a:srgbClr val="8FB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191500" y="3098800"/>
            <a:ext cx="152400" cy="152400"/>
          </a:xfrm>
          <a:prstGeom prst="ellipse">
            <a:avLst/>
          </a:prstGeom>
          <a:solidFill>
            <a:srgbClr val="8FB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004300" y="3594100"/>
            <a:ext cx="177800" cy="177800"/>
          </a:xfrm>
          <a:prstGeom prst="ellipse">
            <a:avLst/>
          </a:prstGeom>
          <a:solidFill>
            <a:srgbClr val="8FB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9944100" y="3390900"/>
            <a:ext cx="203200" cy="203200"/>
          </a:xfrm>
          <a:prstGeom prst="ellipse">
            <a:avLst/>
          </a:prstGeom>
          <a:solidFill>
            <a:srgbClr val="F0A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591800" y="3086100"/>
            <a:ext cx="177800" cy="177800"/>
          </a:xfrm>
          <a:prstGeom prst="ellipse">
            <a:avLst/>
          </a:prstGeom>
          <a:solidFill>
            <a:srgbClr val="F0A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820400" y="3695700"/>
            <a:ext cx="228600" cy="228600"/>
          </a:xfrm>
          <a:prstGeom prst="ellipse">
            <a:avLst/>
          </a:prstGeom>
          <a:solidFill>
            <a:srgbClr val="F0A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337800" y="4165600"/>
            <a:ext cx="304800" cy="304800"/>
          </a:xfrm>
          <a:prstGeom prst="ellipse">
            <a:avLst/>
          </a:prstGeom>
          <a:solidFill>
            <a:srgbClr val="F0A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9842500" y="4051300"/>
            <a:ext cx="152400" cy="152400"/>
          </a:xfrm>
          <a:prstGeom prst="ellipse">
            <a:avLst/>
          </a:prstGeom>
          <a:solidFill>
            <a:srgbClr val="F0A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718800" y="4546600"/>
            <a:ext cx="177800" cy="177800"/>
          </a:xfrm>
          <a:prstGeom prst="ellipse">
            <a:avLst/>
          </a:prstGeom>
          <a:solidFill>
            <a:srgbClr val="F0A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9569450" y="3270250"/>
            <a:ext cx="190500" cy="190500"/>
          </a:xfrm>
          <a:prstGeom prst="ellipse">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12800" y="812800"/>
            <a:ext cx="6604000" cy="215900"/>
          </a:xfrm>
          <a:prstGeom prst="rect">
            <a:avLst/>
          </a:prstGeom>
          <a:noFill/>
        </p:spPr>
        <p:txBody>
          <a:bodyPr wrap="square" lIns="0" tIns="0" rIns="0" bIns="0" anchor="t">
            <a:spAutoFit/>
          </a:bodyPr>
          <a:lstStyle/>
          <a:p>
            <a:pPr algn="l">
              <a:lnSpc>
                <a:spcPct val="115000"/>
              </a:lnSpc>
            </a:pPr>
            <a:r>
              <a:rPr sz="1200" b="1">
                <a:solidFill>
                  <a:srgbClr val="F0A35E"/>
                </a:solidFill>
                <a:latin typeface="Calibri"/>
              </a:rPr>
              <a:t>23CSE451 GRAPH MINING · CASE STUDY</a:t>
            </a:r>
          </a:p>
        </p:txBody>
      </p:sp>
      <p:sp>
        <p:nvSpPr>
          <p:cNvPr id="38" name="TextBox 37"/>
          <p:cNvSpPr txBox="1"/>
          <p:nvPr/>
        </p:nvSpPr>
        <p:spPr>
          <a:xfrm>
            <a:off x="812800" y="1206500"/>
            <a:ext cx="6604000" cy="2159000"/>
          </a:xfrm>
          <a:prstGeom prst="rect">
            <a:avLst/>
          </a:prstGeom>
          <a:noFill/>
        </p:spPr>
        <p:txBody>
          <a:bodyPr wrap="square" lIns="0" tIns="0" rIns="0" bIns="0" anchor="t">
            <a:spAutoFit/>
          </a:bodyPr>
          <a:lstStyle/>
          <a:p>
            <a:pPr algn="l">
              <a:lnSpc>
                <a:spcPct val="100000"/>
              </a:lnSpc>
            </a:pPr>
            <a:r>
              <a:rPr sz="4800" b="1">
                <a:solidFill>
                  <a:srgbClr val="F6F4EF"/>
                </a:solidFill>
                <a:latin typeface="Georgia"/>
              </a:rPr>
              <a:t>Analyzing Global Arms Trade using Spectral Partitioning</a:t>
            </a:r>
          </a:p>
        </p:txBody>
      </p:sp>
      <p:sp>
        <p:nvSpPr>
          <p:cNvPr id="39" name="TextBox 38"/>
          <p:cNvSpPr txBox="1"/>
          <p:nvPr/>
        </p:nvSpPr>
        <p:spPr>
          <a:xfrm>
            <a:off x="812800" y="3556000"/>
            <a:ext cx="6604000" cy="254000"/>
          </a:xfrm>
          <a:prstGeom prst="rect">
            <a:avLst/>
          </a:prstGeom>
          <a:noFill/>
        </p:spPr>
        <p:txBody>
          <a:bodyPr wrap="square" lIns="0" tIns="0" rIns="0" bIns="0" anchor="t">
            <a:spAutoFit/>
          </a:bodyPr>
          <a:lstStyle/>
          <a:p>
            <a:pPr algn="l">
              <a:lnSpc>
                <a:spcPct val="115000"/>
              </a:lnSpc>
            </a:pPr>
            <a:r>
              <a:rPr sz="1600" b="0">
                <a:solidFill>
                  <a:srgbClr val="B9C4D6"/>
                </a:solidFill>
                <a:latin typeface="Calibri"/>
              </a:rPr>
              <a:t>SIPRI weapons data, 1950 to 2025</a:t>
            </a:r>
          </a:p>
        </p:txBody>
      </p:sp>
      <p:sp>
        <p:nvSpPr>
          <p:cNvPr id="40" name="TextBox 39"/>
          <p:cNvSpPr txBox="1"/>
          <p:nvPr/>
        </p:nvSpPr>
        <p:spPr>
          <a:xfrm>
            <a:off x="812800" y="5461000"/>
            <a:ext cx="2286000" cy="254000"/>
          </a:xfrm>
          <a:prstGeom prst="rect">
            <a:avLst/>
          </a:prstGeom>
          <a:noFill/>
        </p:spPr>
        <p:txBody>
          <a:bodyPr wrap="square" lIns="0" tIns="0" rIns="0" bIns="0" anchor="t">
            <a:spAutoFit/>
          </a:bodyPr>
          <a:lstStyle/>
          <a:p>
            <a:pPr algn="l">
              <a:lnSpc>
                <a:spcPct val="115000"/>
              </a:lnSpc>
            </a:pPr>
            <a:r>
              <a:rPr sz="1600" b="1">
                <a:solidFill>
                  <a:srgbClr val="8FB7E8"/>
                </a:solidFill>
                <a:latin typeface="Calibri"/>
              </a:rPr>
              <a:t>Raaghavan M S</a:t>
            </a:r>
          </a:p>
        </p:txBody>
      </p:sp>
      <p:sp>
        <p:nvSpPr>
          <p:cNvPr id="41" name="TextBox 40"/>
          <p:cNvSpPr txBox="1"/>
          <p:nvPr/>
        </p:nvSpPr>
        <p:spPr>
          <a:xfrm>
            <a:off x="812800" y="5740400"/>
            <a:ext cx="2286000" cy="215900"/>
          </a:xfrm>
          <a:prstGeom prst="rect">
            <a:avLst/>
          </a:prstGeom>
          <a:noFill/>
        </p:spPr>
        <p:txBody>
          <a:bodyPr wrap="square" lIns="0" tIns="0" rIns="0" bIns="0" anchor="t">
            <a:spAutoFit/>
          </a:bodyPr>
          <a:lstStyle/>
          <a:p>
            <a:pPr algn="l">
              <a:lnSpc>
                <a:spcPct val="115000"/>
              </a:lnSpc>
            </a:pPr>
            <a:r>
              <a:rPr sz="1200" b="0">
                <a:solidFill>
                  <a:srgbClr val="B9C4D6"/>
                </a:solidFill>
                <a:latin typeface="Calibri"/>
              </a:rPr>
              <a:t>AM.SC.U4CSE23330</a:t>
            </a:r>
          </a:p>
        </p:txBody>
      </p:sp>
      <p:sp>
        <p:nvSpPr>
          <p:cNvPr id="42" name="TextBox 41"/>
          <p:cNvSpPr txBox="1"/>
          <p:nvPr/>
        </p:nvSpPr>
        <p:spPr>
          <a:xfrm>
            <a:off x="3175000" y="5461000"/>
            <a:ext cx="2286000" cy="254000"/>
          </a:xfrm>
          <a:prstGeom prst="rect">
            <a:avLst/>
          </a:prstGeom>
          <a:noFill/>
        </p:spPr>
        <p:txBody>
          <a:bodyPr wrap="square" lIns="0" tIns="0" rIns="0" bIns="0" anchor="t">
            <a:spAutoFit/>
          </a:bodyPr>
          <a:lstStyle/>
          <a:p>
            <a:pPr algn="l">
              <a:lnSpc>
                <a:spcPct val="115000"/>
              </a:lnSpc>
            </a:pPr>
            <a:r>
              <a:rPr sz="1600" b="1">
                <a:solidFill>
                  <a:srgbClr val="F0A35E"/>
                </a:solidFill>
                <a:latin typeface="Calibri"/>
              </a:rPr>
              <a:t>V Sriman Vashishta</a:t>
            </a:r>
          </a:p>
        </p:txBody>
      </p:sp>
      <p:sp>
        <p:nvSpPr>
          <p:cNvPr id="43" name="TextBox 42"/>
          <p:cNvSpPr txBox="1"/>
          <p:nvPr/>
        </p:nvSpPr>
        <p:spPr>
          <a:xfrm>
            <a:off x="3175000" y="5740400"/>
            <a:ext cx="2286000" cy="215900"/>
          </a:xfrm>
          <a:prstGeom prst="rect">
            <a:avLst/>
          </a:prstGeom>
          <a:noFill/>
        </p:spPr>
        <p:txBody>
          <a:bodyPr wrap="square" lIns="0" tIns="0" rIns="0" bIns="0" anchor="t">
            <a:spAutoFit/>
          </a:bodyPr>
          <a:lstStyle/>
          <a:p>
            <a:pPr algn="l">
              <a:lnSpc>
                <a:spcPct val="115000"/>
              </a:lnSpc>
            </a:pPr>
            <a:r>
              <a:rPr sz="1200" b="0">
                <a:solidFill>
                  <a:srgbClr val="B9C4D6"/>
                </a:solidFill>
                <a:latin typeface="Calibri"/>
              </a:rPr>
              <a:t>AM.SC.U4CSE23368</a:t>
            </a:r>
          </a:p>
        </p:txBody>
      </p:sp>
      <p:sp>
        <p:nvSpPr>
          <p:cNvPr id="44" name="TextBox 43"/>
          <p:cNvSpPr txBox="1"/>
          <p:nvPr/>
        </p:nvSpPr>
        <p:spPr>
          <a:xfrm>
            <a:off x="5842000" y="5461000"/>
            <a:ext cx="5080000" cy="508000"/>
          </a:xfrm>
          <a:prstGeom prst="rect">
            <a:avLst/>
          </a:prstGeom>
          <a:noFill/>
        </p:spPr>
        <p:txBody>
          <a:bodyPr wrap="square" lIns="0" tIns="0" rIns="0" bIns="0" anchor="t">
            <a:spAutoFit/>
          </a:bodyPr>
          <a:lstStyle/>
          <a:p>
            <a:pPr algn="l">
              <a:lnSpc>
                <a:spcPct val="130000"/>
              </a:lnSpc>
            </a:pPr>
            <a:r>
              <a:rPr sz="1200" b="0">
                <a:solidFill>
                  <a:srgbClr val="B9C4D6"/>
                </a:solidFill>
                <a:latin typeface="Calibri"/>
              </a:rPr>
              <a:t>CSE-D · Amrita School of Computing, Amritapuri</a:t>
            </a:r>
          </a:p>
          <a:p>
            <a:pPr algn="l">
              <a:lnSpc>
                <a:spcPct val="130000"/>
              </a:lnSpc>
            </a:pPr>
            <a:r>
              <a:rPr sz="1200" b="0">
                <a:solidFill>
                  <a:srgbClr val="B9C4D6"/>
                </a:solidFill>
                <a:latin typeface="Calibri"/>
              </a:rPr>
              <a:t>Academic Year 2026–27 · Semester VII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566400" cy="215900"/>
          </a:xfrm>
          <a:prstGeom prst="rect">
            <a:avLst/>
          </a:prstGeom>
          <a:noFill/>
        </p:spPr>
        <p:txBody>
          <a:bodyPr wrap="square" lIns="0" tIns="0" rIns="0" bIns="0" anchor="t">
            <a:spAutoFit/>
          </a:bodyPr>
          <a:lstStyle/>
          <a:p>
            <a:pPr algn="l">
              <a:lnSpc>
                <a:spcPct val="115000"/>
              </a:lnSpc>
            </a:pPr>
            <a:r>
              <a:rPr sz="1200" b="1">
                <a:solidFill>
                  <a:srgbClr val="2D5F9A"/>
                </a:solidFill>
                <a:latin typeface="Calibri"/>
              </a:rPr>
              <a:t>INTRODUCTION</a:t>
            </a:r>
          </a:p>
        </p:txBody>
      </p:sp>
      <p:sp>
        <p:nvSpPr>
          <p:cNvPr id="3" name="TextBox 2"/>
          <p:cNvSpPr txBox="1"/>
          <p:nvPr/>
        </p:nvSpPr>
        <p:spPr>
          <a:xfrm>
            <a:off x="812800" y="1054100"/>
            <a:ext cx="10566400" cy="571500"/>
          </a:xfrm>
          <a:prstGeom prst="rect">
            <a:avLst/>
          </a:prstGeom>
          <a:noFill/>
        </p:spPr>
        <p:txBody>
          <a:bodyPr wrap="square" lIns="0" tIns="0" rIns="0" bIns="0" anchor="t">
            <a:spAutoFit/>
          </a:bodyPr>
          <a:lstStyle/>
          <a:p>
            <a:pPr algn="l">
              <a:lnSpc>
                <a:spcPct val="115000"/>
              </a:lnSpc>
            </a:pPr>
            <a:r>
              <a:rPr sz="3200" b="1">
                <a:solidFill>
                  <a:srgbClr val="16213A"/>
                </a:solidFill>
                <a:latin typeface="Georgia"/>
              </a:rPr>
              <a:t>Why the weapons trade?</a:t>
            </a:r>
          </a:p>
        </p:txBody>
      </p:sp>
      <p:sp>
        <p:nvSpPr>
          <p:cNvPr id="4" name="Oval 3"/>
          <p:cNvSpPr/>
          <p:nvPr/>
        </p:nvSpPr>
        <p:spPr>
          <a:xfrm>
            <a:off x="812800" y="1943100"/>
            <a:ext cx="355600" cy="355600"/>
          </a:xfrm>
          <a:prstGeom prst="ellipse">
            <a:avLst/>
          </a:prstGeom>
          <a:solidFill>
            <a:srgbClr val="2D5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2800" y="2006600"/>
            <a:ext cx="355600" cy="228600"/>
          </a:xfrm>
          <a:prstGeom prst="rect">
            <a:avLst/>
          </a:prstGeom>
          <a:noFill/>
        </p:spPr>
        <p:txBody>
          <a:bodyPr wrap="square" lIns="0" tIns="0" rIns="0" bIns="0" anchor="t">
            <a:spAutoFit/>
          </a:bodyPr>
          <a:lstStyle/>
          <a:p>
            <a:pPr algn="ctr">
              <a:lnSpc>
                <a:spcPct val="115000"/>
              </a:lnSpc>
            </a:pPr>
            <a:r>
              <a:rPr sz="1400" b="1">
                <a:solidFill>
                  <a:srgbClr val="F6F4EF"/>
                </a:solidFill>
                <a:latin typeface="Calibri"/>
              </a:rPr>
              <a:t>1</a:t>
            </a:r>
          </a:p>
        </p:txBody>
      </p:sp>
      <p:sp>
        <p:nvSpPr>
          <p:cNvPr id="6" name="TextBox 5"/>
          <p:cNvSpPr txBox="1"/>
          <p:nvPr/>
        </p:nvSpPr>
        <p:spPr>
          <a:xfrm>
            <a:off x="1346200" y="1930400"/>
            <a:ext cx="4699000" cy="317500"/>
          </a:xfrm>
          <a:prstGeom prst="rect">
            <a:avLst/>
          </a:prstGeom>
          <a:noFill/>
        </p:spPr>
        <p:txBody>
          <a:bodyPr wrap="square" lIns="0" tIns="0" rIns="0" bIns="0" anchor="t">
            <a:spAutoFit/>
          </a:bodyPr>
          <a:lstStyle/>
          <a:p>
            <a:pPr algn="l">
              <a:lnSpc>
                <a:spcPct val="115000"/>
              </a:lnSpc>
            </a:pPr>
            <a:r>
              <a:rPr sz="2000" b="1">
                <a:solidFill>
                  <a:srgbClr val="16213A"/>
                </a:solidFill>
                <a:latin typeface="Georgia"/>
              </a:rPr>
              <a:t>A deal is a long friendship</a:t>
            </a:r>
          </a:p>
        </p:txBody>
      </p:sp>
      <p:sp>
        <p:nvSpPr>
          <p:cNvPr id="7" name="TextBox 6"/>
          <p:cNvSpPr txBox="1"/>
          <p:nvPr/>
        </p:nvSpPr>
        <p:spPr>
          <a:xfrm>
            <a:off x="1346200" y="2260600"/>
            <a:ext cx="4699000" cy="889000"/>
          </a:xfrm>
          <a:prstGeom prst="rect">
            <a:avLst/>
          </a:prstGeom>
          <a:noFill/>
        </p:spPr>
        <p:txBody>
          <a:bodyPr wrap="square" lIns="0" tIns="0" rIns="0" bIns="0" anchor="t">
            <a:spAutoFit/>
          </a:bodyPr>
          <a:lstStyle/>
          <a:p>
            <a:pPr algn="l">
              <a:lnSpc>
                <a:spcPct val="115000"/>
              </a:lnSpc>
            </a:pPr>
            <a:r>
              <a:rPr sz="1400" b="0">
                <a:solidFill>
                  <a:srgbClr val="3E4A5C"/>
                </a:solidFill>
                <a:latin typeface="Calibri"/>
              </a:rPr>
              <a:t>The buyer needs spare parts, training and repairs from the seller for many years. So countries only buy weapons from countries they trust, and the trade shows who is on whose side.</a:t>
            </a:r>
          </a:p>
        </p:txBody>
      </p:sp>
      <p:sp>
        <p:nvSpPr>
          <p:cNvPr id="8" name="Oval 7"/>
          <p:cNvSpPr/>
          <p:nvPr/>
        </p:nvSpPr>
        <p:spPr>
          <a:xfrm>
            <a:off x="812800" y="3213100"/>
            <a:ext cx="355600" cy="355600"/>
          </a:xfrm>
          <a:prstGeom prst="ellipse">
            <a:avLst/>
          </a:prstGeom>
          <a:solidFill>
            <a:srgbClr val="2D5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3276600"/>
            <a:ext cx="355600" cy="228600"/>
          </a:xfrm>
          <a:prstGeom prst="rect">
            <a:avLst/>
          </a:prstGeom>
          <a:noFill/>
        </p:spPr>
        <p:txBody>
          <a:bodyPr wrap="square" lIns="0" tIns="0" rIns="0" bIns="0" anchor="t">
            <a:spAutoFit/>
          </a:bodyPr>
          <a:lstStyle/>
          <a:p>
            <a:pPr algn="ctr">
              <a:lnSpc>
                <a:spcPct val="115000"/>
              </a:lnSpc>
            </a:pPr>
            <a:r>
              <a:rPr sz="1400" b="1">
                <a:solidFill>
                  <a:srgbClr val="F6F4EF"/>
                </a:solidFill>
                <a:latin typeface="Calibri"/>
              </a:rPr>
              <a:t>2</a:t>
            </a:r>
          </a:p>
        </p:txBody>
      </p:sp>
      <p:sp>
        <p:nvSpPr>
          <p:cNvPr id="10" name="TextBox 9"/>
          <p:cNvSpPr txBox="1"/>
          <p:nvPr/>
        </p:nvSpPr>
        <p:spPr>
          <a:xfrm>
            <a:off x="1346200" y="3200400"/>
            <a:ext cx="4699000" cy="317500"/>
          </a:xfrm>
          <a:prstGeom prst="rect">
            <a:avLst/>
          </a:prstGeom>
          <a:noFill/>
        </p:spPr>
        <p:txBody>
          <a:bodyPr wrap="square" lIns="0" tIns="0" rIns="0" bIns="0" anchor="t">
            <a:spAutoFit/>
          </a:bodyPr>
          <a:lstStyle/>
          <a:p>
            <a:pPr algn="l">
              <a:lnSpc>
                <a:spcPct val="115000"/>
              </a:lnSpc>
            </a:pPr>
            <a:r>
              <a:rPr sz="2000" b="1">
                <a:solidFill>
                  <a:srgbClr val="16213A"/>
                </a:solidFill>
                <a:latin typeface="Georgia"/>
              </a:rPr>
              <a:t>Deals are public</a:t>
            </a:r>
          </a:p>
        </p:txBody>
      </p:sp>
      <p:sp>
        <p:nvSpPr>
          <p:cNvPr id="11" name="TextBox 10"/>
          <p:cNvSpPr txBox="1"/>
          <p:nvPr/>
        </p:nvSpPr>
        <p:spPr>
          <a:xfrm>
            <a:off x="1346200" y="3530600"/>
            <a:ext cx="4699000" cy="889000"/>
          </a:xfrm>
          <a:prstGeom prst="rect">
            <a:avLst/>
          </a:prstGeom>
          <a:noFill/>
        </p:spPr>
        <p:txBody>
          <a:bodyPr wrap="square" lIns="0" tIns="0" rIns="0" bIns="0" anchor="t">
            <a:spAutoFit/>
          </a:bodyPr>
          <a:lstStyle/>
          <a:p>
            <a:pPr algn="l">
              <a:lnSpc>
                <a:spcPct val="115000"/>
              </a:lnSpc>
            </a:pPr>
            <a:r>
              <a:rPr sz="1400" b="0">
                <a:solidFill>
                  <a:srgbClr val="3E4A5C"/>
                </a:solidFill>
                <a:latin typeface="Calibri"/>
              </a:rPr>
              <a:t>Friendships between countries are often secret. Weapons deals are not. SIPRI, a research institute in Sweden, has counted every major deal since 1950, a good map of world politics.</a:t>
            </a:r>
          </a:p>
        </p:txBody>
      </p:sp>
      <p:sp>
        <p:nvSpPr>
          <p:cNvPr id="12" name="Oval 11"/>
          <p:cNvSpPr/>
          <p:nvPr/>
        </p:nvSpPr>
        <p:spPr>
          <a:xfrm>
            <a:off x="812800" y="4483100"/>
            <a:ext cx="355600" cy="355600"/>
          </a:xfrm>
          <a:prstGeom prst="ellipse">
            <a:avLst/>
          </a:prstGeom>
          <a:solidFill>
            <a:srgbClr val="2D5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2800" y="4546600"/>
            <a:ext cx="355600" cy="228600"/>
          </a:xfrm>
          <a:prstGeom prst="rect">
            <a:avLst/>
          </a:prstGeom>
          <a:noFill/>
        </p:spPr>
        <p:txBody>
          <a:bodyPr wrap="square" lIns="0" tIns="0" rIns="0" bIns="0" anchor="t">
            <a:spAutoFit/>
          </a:bodyPr>
          <a:lstStyle/>
          <a:p>
            <a:pPr algn="ctr">
              <a:lnSpc>
                <a:spcPct val="115000"/>
              </a:lnSpc>
            </a:pPr>
            <a:r>
              <a:rPr sz="1400" b="1">
                <a:solidFill>
                  <a:srgbClr val="F6F4EF"/>
                </a:solidFill>
                <a:latin typeface="Calibri"/>
              </a:rPr>
              <a:t>3</a:t>
            </a:r>
          </a:p>
        </p:txBody>
      </p:sp>
      <p:sp>
        <p:nvSpPr>
          <p:cNvPr id="14" name="TextBox 13"/>
          <p:cNvSpPr txBox="1"/>
          <p:nvPr/>
        </p:nvSpPr>
        <p:spPr>
          <a:xfrm>
            <a:off x="1346200" y="4470400"/>
            <a:ext cx="4699000" cy="317500"/>
          </a:xfrm>
          <a:prstGeom prst="rect">
            <a:avLst/>
          </a:prstGeom>
          <a:noFill/>
        </p:spPr>
        <p:txBody>
          <a:bodyPr wrap="square" lIns="0" tIns="0" rIns="0" bIns="0" anchor="t">
            <a:spAutoFit/>
          </a:bodyPr>
          <a:lstStyle/>
          <a:p>
            <a:pPr algn="l">
              <a:lnSpc>
                <a:spcPct val="115000"/>
              </a:lnSpc>
            </a:pPr>
            <a:r>
              <a:rPr sz="2000" b="1">
                <a:solidFill>
                  <a:srgbClr val="16213A"/>
                </a:solidFill>
                <a:latin typeface="Georgia"/>
              </a:rPr>
              <a:t>A graph fits</a:t>
            </a:r>
          </a:p>
        </p:txBody>
      </p:sp>
      <p:sp>
        <p:nvSpPr>
          <p:cNvPr id="15" name="TextBox 14"/>
          <p:cNvSpPr txBox="1"/>
          <p:nvPr/>
        </p:nvSpPr>
        <p:spPr>
          <a:xfrm>
            <a:off x="1346200" y="4800600"/>
            <a:ext cx="4699000" cy="889000"/>
          </a:xfrm>
          <a:prstGeom prst="rect">
            <a:avLst/>
          </a:prstGeom>
          <a:noFill/>
        </p:spPr>
        <p:txBody>
          <a:bodyPr wrap="square" lIns="0" tIns="0" rIns="0" bIns="0" anchor="t">
            <a:spAutoFit/>
          </a:bodyPr>
          <a:lstStyle/>
          <a:p>
            <a:pPr algn="l">
              <a:lnSpc>
                <a:spcPct val="115000"/>
              </a:lnSpc>
            </a:pPr>
            <a:r>
              <a:rPr sz="1400" b="0">
                <a:solidFill>
                  <a:srgbClr val="3E4A5C"/>
                </a:solidFill>
                <a:latin typeface="Calibri"/>
              </a:rPr>
              <a:t>We care about who is joined to whom, and that is exactly what a graph stores. Finding the sides is a standard graph task called community detection.</a:t>
            </a:r>
          </a:p>
        </p:txBody>
      </p:sp>
      <p:sp>
        <p:nvSpPr>
          <p:cNvPr id="16" name="Rounded Rectangle 15"/>
          <p:cNvSpPr/>
          <p:nvPr/>
        </p:nvSpPr>
        <p:spPr>
          <a:xfrm>
            <a:off x="6350000" y="1879600"/>
            <a:ext cx="5029200" cy="3962400"/>
          </a:xfrm>
          <a:prstGeom prst="roundRect">
            <a:avLst>
              <a:gd name="adj" fmla="val 6000"/>
            </a:avLst>
          </a:prstGeom>
          <a:solidFill>
            <a:srgbClr val="16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29400" y="2120900"/>
            <a:ext cx="4470400" cy="215900"/>
          </a:xfrm>
          <a:prstGeom prst="rect">
            <a:avLst/>
          </a:prstGeom>
          <a:noFill/>
        </p:spPr>
        <p:txBody>
          <a:bodyPr wrap="square" lIns="0" tIns="0" rIns="0" bIns="0" anchor="t">
            <a:spAutoFit/>
          </a:bodyPr>
          <a:lstStyle/>
          <a:p>
            <a:pPr algn="l">
              <a:lnSpc>
                <a:spcPct val="115000"/>
              </a:lnSpc>
            </a:pPr>
            <a:r>
              <a:rPr sz="1200" b="1">
                <a:solidFill>
                  <a:srgbClr val="F0A35E"/>
                </a:solidFill>
                <a:latin typeface="Calibri"/>
              </a:rPr>
              <a:t>PROBLEM STATEMENT</a:t>
            </a:r>
          </a:p>
        </p:txBody>
      </p:sp>
      <p:sp>
        <p:nvSpPr>
          <p:cNvPr id="18" name="TextBox 17"/>
          <p:cNvSpPr txBox="1"/>
          <p:nvPr/>
        </p:nvSpPr>
        <p:spPr>
          <a:xfrm>
            <a:off x="6629400" y="2362200"/>
            <a:ext cx="4470400" cy="1270000"/>
          </a:xfrm>
          <a:prstGeom prst="rect">
            <a:avLst/>
          </a:prstGeom>
          <a:noFill/>
        </p:spPr>
        <p:txBody>
          <a:bodyPr wrap="square" lIns="0" tIns="0" rIns="0" bIns="0" anchor="t">
            <a:spAutoFit/>
          </a:bodyPr>
          <a:lstStyle/>
          <a:p>
            <a:pPr algn="l">
              <a:lnSpc>
                <a:spcPct val="120000"/>
              </a:lnSpc>
            </a:pPr>
            <a:r>
              <a:rPr sz="1300" b="0">
                <a:solidFill>
                  <a:srgbClr val="F6F4EF"/>
                </a:solidFill>
                <a:latin typeface="Calibri"/>
              </a:rPr>
              <a:t>Find the groups of countries in the world weapons trade, using </a:t>
            </a:r>
            <a:r>
              <a:rPr sz="1300" b="1">
                <a:solidFill>
                  <a:srgbClr val="F6F4EF"/>
                </a:solidFill>
                <a:latin typeface="Calibri"/>
              </a:rPr>
              <a:t>only the list of deals</a:t>
            </a:r>
            <a:r>
              <a:rPr sz="1300" b="0">
                <a:solidFill>
                  <a:srgbClr val="F6F4EF"/>
                </a:solidFill>
                <a:latin typeface="Calibri"/>
              </a:rPr>
              <a:t>. Countries are nodes, deals are weighted edges. Cut the graph into groups that trade a lot inside and little outside, then check that the groups are real and not luck.</a:t>
            </a:r>
          </a:p>
        </p:txBody>
      </p:sp>
      <p:sp>
        <p:nvSpPr>
          <p:cNvPr id="19" name="Rectangle 18"/>
          <p:cNvSpPr/>
          <p:nvPr/>
        </p:nvSpPr>
        <p:spPr>
          <a:xfrm>
            <a:off x="6629400" y="3683000"/>
            <a:ext cx="4470400" cy="12700"/>
          </a:xfrm>
          <a:prstGeom prst="rect">
            <a:avLst/>
          </a:prstGeom>
          <a:solidFill>
            <a:srgbClr val="3A4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29400" y="3797300"/>
            <a:ext cx="4470400" cy="215900"/>
          </a:xfrm>
          <a:prstGeom prst="rect">
            <a:avLst/>
          </a:prstGeom>
          <a:noFill/>
        </p:spPr>
        <p:txBody>
          <a:bodyPr wrap="square" lIns="0" tIns="0" rIns="0" bIns="0" anchor="t">
            <a:spAutoFit/>
          </a:bodyPr>
          <a:lstStyle/>
          <a:p>
            <a:pPr algn="l">
              <a:lnSpc>
                <a:spcPct val="115000"/>
              </a:lnSpc>
            </a:pPr>
            <a:r>
              <a:rPr sz="1200" b="1">
                <a:solidFill>
                  <a:srgbClr val="F0A35E"/>
                </a:solidFill>
                <a:latin typeface="Calibri"/>
              </a:rPr>
              <a:t>OBJECTIVES</a:t>
            </a:r>
          </a:p>
        </p:txBody>
      </p:sp>
      <p:sp>
        <p:nvSpPr>
          <p:cNvPr id="21" name="TextBox 20"/>
          <p:cNvSpPr txBox="1"/>
          <p:nvPr/>
        </p:nvSpPr>
        <p:spPr>
          <a:xfrm>
            <a:off x="6629400" y="4038600"/>
            <a:ext cx="4470400" cy="1587500"/>
          </a:xfrm>
          <a:prstGeom prst="rect">
            <a:avLst/>
          </a:prstGeom>
          <a:noFill/>
        </p:spPr>
        <p:txBody>
          <a:bodyPr wrap="square" lIns="0" tIns="0" rIns="0" bIns="0" anchor="t">
            <a:spAutoFit/>
          </a:bodyPr>
          <a:lstStyle/>
          <a:p>
            <a:pPr algn="l">
              <a:lnSpc>
                <a:spcPct val="110000"/>
              </a:lnSpc>
            </a:pPr>
            <a:r>
              <a:rPr sz="1200" b="1">
                <a:solidFill>
                  <a:srgbClr val="F0A35E"/>
                </a:solidFill>
                <a:latin typeface="Calibri"/>
              </a:rPr>
              <a:t>1</a:t>
            </a:r>
            <a:r>
              <a:rPr sz="1200" b="0">
                <a:solidFill>
                  <a:srgbClr val="B9C4D6"/>
                </a:solidFill>
                <a:latin typeface="Calibri"/>
              </a:rPr>
              <a:t>   Turn the weapons trade into a weighted graph</a:t>
            </a:r>
          </a:p>
          <a:p>
            <a:pPr algn="l">
              <a:lnSpc>
                <a:spcPct val="110000"/>
              </a:lnSpc>
              <a:spcBef>
                <a:spcPts val="400"/>
              </a:spcBef>
            </a:pPr>
            <a:r>
              <a:rPr sz="1200" b="1">
                <a:solidFill>
                  <a:srgbClr val="F0A35E"/>
                </a:solidFill>
                <a:latin typeface="Calibri"/>
              </a:rPr>
              <a:t>2</a:t>
            </a:r>
            <a:r>
              <a:rPr sz="1200" b="0">
                <a:solidFill>
                  <a:srgbClr val="B9C4D6"/>
                </a:solidFill>
                <a:latin typeface="Calibri"/>
              </a:rPr>
              <a:t>   Clean the raw SIPRI data</a:t>
            </a:r>
          </a:p>
          <a:p>
            <a:pPr algn="l">
              <a:lnSpc>
                <a:spcPct val="110000"/>
              </a:lnSpc>
              <a:spcBef>
                <a:spcPts val="400"/>
              </a:spcBef>
            </a:pPr>
            <a:r>
              <a:rPr sz="1200" b="1">
                <a:solidFill>
                  <a:srgbClr val="F0A35E"/>
                </a:solidFill>
                <a:latin typeface="Calibri"/>
              </a:rPr>
              <a:t>3</a:t>
            </a:r>
            <a:r>
              <a:rPr sz="1200" b="0">
                <a:solidFill>
                  <a:srgbClr val="B9C4D6"/>
                </a:solidFill>
                <a:latin typeface="Calibri"/>
              </a:rPr>
              <a:t>   Write spectral partitioning from scratch</a:t>
            </a:r>
          </a:p>
          <a:p>
            <a:pPr algn="l">
              <a:lnSpc>
                <a:spcPct val="110000"/>
              </a:lnSpc>
              <a:spcBef>
                <a:spcPts val="400"/>
              </a:spcBef>
            </a:pPr>
            <a:r>
              <a:rPr sz="1200" b="1">
                <a:solidFill>
                  <a:srgbClr val="F0A35E"/>
                </a:solidFill>
                <a:latin typeface="Calibri"/>
              </a:rPr>
              <a:t>4</a:t>
            </a:r>
            <a:r>
              <a:rPr sz="1200" b="0">
                <a:solidFill>
                  <a:srgbClr val="B9C4D6"/>
                </a:solidFill>
                <a:latin typeface="Calibri"/>
              </a:rPr>
              <a:t>   Let the data choose how many groups there are</a:t>
            </a:r>
          </a:p>
          <a:p>
            <a:pPr algn="l">
              <a:lnSpc>
                <a:spcPct val="110000"/>
              </a:lnSpc>
              <a:spcBef>
                <a:spcPts val="400"/>
              </a:spcBef>
            </a:pPr>
            <a:r>
              <a:rPr sz="1200" b="1">
                <a:solidFill>
                  <a:srgbClr val="F0A35E"/>
                </a:solidFill>
                <a:latin typeface="Calibri"/>
              </a:rPr>
              <a:t>5</a:t>
            </a:r>
            <a:r>
              <a:rPr sz="1200" b="0">
                <a:solidFill>
                  <a:srgbClr val="B9C4D6"/>
                </a:solidFill>
                <a:latin typeface="Calibri"/>
              </a:rPr>
              <a:t>   Find the countries that trade with both sides</a:t>
            </a:r>
          </a:p>
          <a:p>
            <a:pPr algn="l">
              <a:lnSpc>
                <a:spcPct val="110000"/>
              </a:lnSpc>
              <a:spcBef>
                <a:spcPts val="400"/>
              </a:spcBef>
            </a:pPr>
            <a:r>
              <a:rPr sz="1200" b="1">
                <a:solidFill>
                  <a:srgbClr val="F0A35E"/>
                </a:solidFill>
                <a:latin typeface="Calibri"/>
              </a:rPr>
              <a:t>6</a:t>
            </a:r>
            <a:r>
              <a:rPr sz="1200" b="0">
                <a:solidFill>
                  <a:srgbClr val="B9C4D6"/>
                </a:solidFill>
                <a:latin typeface="Calibri"/>
              </a:rPr>
              <a:t>   Prove the groups are not luck</a:t>
            </a:r>
          </a:p>
          <a:p>
            <a:pPr algn="l">
              <a:lnSpc>
                <a:spcPct val="110000"/>
              </a:lnSpc>
              <a:spcBef>
                <a:spcPts val="400"/>
              </a:spcBef>
            </a:pPr>
            <a:r>
              <a:rPr sz="1200" b="1">
                <a:solidFill>
                  <a:srgbClr val="F0A35E"/>
                </a:solidFill>
                <a:latin typeface="Calibri"/>
              </a:rPr>
              <a:t>7</a:t>
            </a:r>
            <a:r>
              <a:rPr sz="1200" b="0">
                <a:solidFill>
                  <a:srgbClr val="B9C4D6"/>
                </a:solidFill>
                <a:latin typeface="Calibri"/>
              </a:rPr>
              <a:t>   Build a website that explains all this simply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566400" cy="215900"/>
          </a:xfrm>
          <a:prstGeom prst="rect">
            <a:avLst/>
          </a:prstGeom>
          <a:noFill/>
        </p:spPr>
        <p:txBody>
          <a:bodyPr wrap="square" lIns="0" tIns="0" rIns="0" bIns="0" anchor="t">
            <a:spAutoFit/>
          </a:bodyPr>
          <a:lstStyle/>
          <a:p>
            <a:pPr algn="l">
              <a:lnSpc>
                <a:spcPct val="115000"/>
              </a:lnSpc>
            </a:pPr>
            <a:r>
              <a:rPr sz="1200" b="1">
                <a:solidFill>
                  <a:srgbClr val="2D5F9A"/>
                </a:solidFill>
                <a:latin typeface="Calibri"/>
              </a:rPr>
              <a:t>DATA &amp; GRAPH MODEL</a:t>
            </a:r>
          </a:p>
        </p:txBody>
      </p:sp>
      <p:sp>
        <p:nvSpPr>
          <p:cNvPr id="3" name="TextBox 2"/>
          <p:cNvSpPr txBox="1"/>
          <p:nvPr/>
        </p:nvSpPr>
        <p:spPr>
          <a:xfrm>
            <a:off x="812800" y="1054100"/>
            <a:ext cx="10566400" cy="571500"/>
          </a:xfrm>
          <a:prstGeom prst="rect">
            <a:avLst/>
          </a:prstGeom>
          <a:noFill/>
        </p:spPr>
        <p:txBody>
          <a:bodyPr wrap="square" lIns="0" tIns="0" rIns="0" bIns="0" anchor="t">
            <a:spAutoFit/>
          </a:bodyPr>
          <a:lstStyle/>
          <a:p>
            <a:pPr algn="l">
              <a:lnSpc>
                <a:spcPct val="115000"/>
              </a:lnSpc>
            </a:pPr>
            <a:r>
              <a:rPr sz="3200" b="1">
                <a:solidFill>
                  <a:srgbClr val="16213A"/>
                </a:solidFill>
                <a:latin typeface="Georgia"/>
              </a:rPr>
              <a:t>From 28,108 deals to 67 graphs</a:t>
            </a:r>
          </a:p>
        </p:txBody>
      </p:sp>
      <p:sp>
        <p:nvSpPr>
          <p:cNvPr id="4" name="TextBox 3"/>
          <p:cNvSpPr txBox="1"/>
          <p:nvPr/>
        </p:nvSpPr>
        <p:spPr>
          <a:xfrm>
            <a:off x="812800" y="1841500"/>
            <a:ext cx="5461000" cy="2794000"/>
          </a:xfrm>
          <a:prstGeom prst="rect">
            <a:avLst/>
          </a:prstGeom>
          <a:noFill/>
        </p:spPr>
        <p:txBody>
          <a:bodyPr wrap="square" lIns="0" tIns="0" rIns="0" bIns="0" anchor="t">
            <a:spAutoFit/>
          </a:bodyPr>
          <a:lstStyle/>
          <a:p>
            <a:pPr algn="l">
              <a:lnSpc>
                <a:spcPct val="108000"/>
              </a:lnSpc>
            </a:pPr>
            <a:r>
              <a:rPr sz="1300" b="0">
                <a:solidFill>
                  <a:srgbClr val="16213A"/>
                </a:solidFill>
                <a:latin typeface="Calibri"/>
              </a:rPr>
              <a:t>•  </a:t>
            </a:r>
            <a:r>
              <a:rPr sz="1300" b="1">
                <a:solidFill>
                  <a:srgbClr val="16213A"/>
                </a:solidFill>
                <a:latin typeface="Calibri"/>
              </a:rPr>
              <a:t>Data:</a:t>
            </a:r>
            <a:r>
              <a:rPr sz="1300" b="0">
                <a:solidFill>
                  <a:srgbClr val="16213A"/>
                </a:solidFill>
                <a:latin typeface="Calibri"/>
              </a:rPr>
              <a:t> SIPRI Arms Transfers Database, real data (downloaded 3 August 2026). 29,916 rows, </a:t>
            </a:r>
            <a:r>
              <a:rPr sz="1300" b="1">
                <a:solidFill>
                  <a:srgbClr val="16213A"/>
                </a:solidFill>
                <a:latin typeface="Calibri"/>
              </a:rPr>
              <a:t>28,108 kept</a:t>
            </a:r>
            <a:r>
              <a:rPr sz="1300" b="0">
                <a:solidFill>
                  <a:srgbClr val="16213A"/>
                </a:solidFill>
                <a:latin typeface="Calibri"/>
              </a:rPr>
              <a:t> after cleaning.</a:t>
            </a:r>
          </a:p>
          <a:p>
            <a:pPr algn="l">
              <a:lnSpc>
                <a:spcPct val="108000"/>
              </a:lnSpc>
              <a:spcBef>
                <a:spcPts val="500"/>
              </a:spcBef>
            </a:pPr>
            <a:r>
              <a:rPr sz="1300" b="0">
                <a:solidFill>
                  <a:srgbClr val="16213A"/>
                </a:solidFill>
                <a:latin typeface="Calibri"/>
              </a:rPr>
              <a:t>•  </a:t>
            </a:r>
            <a:r>
              <a:rPr sz="1300" b="1">
                <a:solidFill>
                  <a:srgbClr val="16213A"/>
                </a:solidFill>
                <a:latin typeface="Calibri"/>
              </a:rPr>
              <a:t>Cleaning:</a:t>
            </a:r>
            <a:r>
              <a:rPr sz="1300" b="0">
                <a:solidFill>
                  <a:srgbClr val="16213A"/>
                </a:solidFill>
                <a:latin typeface="Calibri"/>
              </a:rPr>
              <a:t> skipped 10 lines of notes; removed 63 names that are not countries (rebels, NATO, UN) and 1,196 rows with no year.</a:t>
            </a:r>
          </a:p>
          <a:p>
            <a:pPr algn="l">
              <a:lnSpc>
                <a:spcPct val="108000"/>
              </a:lnSpc>
              <a:spcBef>
                <a:spcPts val="500"/>
              </a:spcBef>
            </a:pPr>
            <a:r>
              <a:rPr sz="1300" b="0">
                <a:solidFill>
                  <a:srgbClr val="16213A"/>
                </a:solidFill>
                <a:latin typeface="Calibri"/>
              </a:rPr>
              <a:t>•  Deals spread over many years: the amount is shared equally between those years.</a:t>
            </a:r>
          </a:p>
          <a:p>
            <a:pPr algn="l">
              <a:lnSpc>
                <a:spcPct val="108000"/>
              </a:lnSpc>
              <a:spcBef>
                <a:spcPts val="500"/>
              </a:spcBef>
            </a:pPr>
            <a:r>
              <a:rPr sz="1300" b="0">
                <a:solidFill>
                  <a:srgbClr val="16213A"/>
                </a:solidFill>
                <a:latin typeface="Calibri"/>
              </a:rPr>
              <a:t>•  One year has too few deals, so each graph uses </a:t>
            </a:r>
            <a:r>
              <a:rPr sz="1300" b="1">
                <a:solidFill>
                  <a:srgbClr val="16213A"/>
                </a:solidFill>
                <a:latin typeface="Calibri"/>
              </a:rPr>
              <a:t>10 years</a:t>
            </a:r>
            <a:r>
              <a:rPr sz="1300" b="0">
                <a:solidFill>
                  <a:srgbClr val="16213A"/>
                </a:solidFill>
                <a:latin typeface="Calibri"/>
              </a:rPr>
              <a:t>: the 1987 graph holds all deals from 1978 to 1987. This gives </a:t>
            </a:r>
            <a:r>
              <a:rPr sz="1300" b="1">
                <a:solidFill>
                  <a:srgbClr val="16213A"/>
                </a:solidFill>
                <a:latin typeface="Calibri"/>
              </a:rPr>
              <a:t>67 graphs</a:t>
            </a:r>
            <a:r>
              <a:rPr sz="1300" b="0">
                <a:solidFill>
                  <a:srgbClr val="16213A"/>
                </a:solidFill>
                <a:latin typeface="Calibri"/>
              </a:rPr>
              <a:t> (1959–2025).</a:t>
            </a:r>
          </a:p>
          <a:p>
            <a:pPr algn="l">
              <a:lnSpc>
                <a:spcPct val="108000"/>
              </a:lnSpc>
              <a:spcBef>
                <a:spcPts val="500"/>
              </a:spcBef>
            </a:pPr>
            <a:r>
              <a:rPr sz="1300" b="0">
                <a:solidFill>
                  <a:srgbClr val="16213A"/>
                </a:solidFill>
                <a:latin typeface="Calibri"/>
              </a:rPr>
              <a:t>•  </a:t>
            </a:r>
            <a:r>
              <a:rPr sz="1300" b="1">
                <a:solidFill>
                  <a:srgbClr val="16213A"/>
                </a:solidFill>
                <a:latin typeface="Calibri"/>
              </a:rPr>
              <a:t>Graph:</a:t>
            </a:r>
            <a:r>
              <a:rPr sz="1300" b="0">
                <a:solidFill>
                  <a:srgbClr val="16213A"/>
                </a:solidFill>
                <a:latin typeface="Calibri"/>
              </a:rPr>
              <a:t> node = country (</a:t>
            </a:r>
            <a:r>
              <a:rPr sz="1300" b="1">
                <a:solidFill>
                  <a:srgbClr val="16213A"/>
                </a:solidFill>
                <a:latin typeface="Calibri"/>
              </a:rPr>
              <a:t>194</a:t>
            </a:r>
            <a:r>
              <a:rPr sz="1300" b="0">
                <a:solidFill>
                  <a:srgbClr val="16213A"/>
                </a:solidFill>
                <a:latin typeface="Calibri"/>
              </a:rPr>
              <a:t>), edge = weapons sold (</a:t>
            </a:r>
            <a:r>
              <a:rPr sz="1300" b="1">
                <a:solidFill>
                  <a:srgbClr val="16213A"/>
                </a:solidFill>
                <a:latin typeface="Calibri"/>
              </a:rPr>
              <a:t>2,847</a:t>
            </a:r>
            <a:r>
              <a:rPr sz="1300" b="0">
                <a:solidFill>
                  <a:srgbClr val="16213A"/>
                </a:solidFill>
                <a:latin typeface="Calibri"/>
              </a:rPr>
              <a:t> seller–buyer pairs), weight = amount in TIV (military value, not money).</a:t>
            </a:r>
          </a:p>
          <a:p>
            <a:pPr algn="l">
              <a:lnSpc>
                <a:spcPct val="108000"/>
              </a:lnSpc>
              <a:spcBef>
                <a:spcPts val="500"/>
              </a:spcBef>
            </a:pPr>
            <a:r>
              <a:rPr sz="1300" b="0">
                <a:solidFill>
                  <a:srgbClr val="16213A"/>
                </a:solidFill>
                <a:latin typeface="Calibri"/>
              </a:rPr>
              <a:t>•  </a:t>
            </a:r>
            <a:r>
              <a:rPr sz="1300" b="1">
                <a:solidFill>
                  <a:srgbClr val="16213A"/>
                </a:solidFill>
                <a:latin typeface="Calibri"/>
              </a:rPr>
              <a:t>Two-way lines:</a:t>
            </a:r>
            <a:r>
              <a:rPr sz="1300" b="0">
                <a:solidFill>
                  <a:srgbClr val="16213A"/>
                </a:solidFill>
                <a:latin typeface="Calibri"/>
              </a:rPr>
              <a:t> W = (A + Aᵀ) / 2, because friendship goes both ways.</a:t>
            </a:r>
          </a:p>
        </p:txBody>
      </p:sp>
      <p:sp>
        <p:nvSpPr>
          <p:cNvPr id="5" name="Rectangle 4"/>
          <p:cNvSpPr/>
          <p:nvPr/>
        </p:nvSpPr>
        <p:spPr>
          <a:xfrm>
            <a:off x="812800" y="4813300"/>
            <a:ext cx="5461000" cy="952500"/>
          </a:xfrm>
          <a:prstGeom prst="rect">
            <a:avLst/>
          </a:prstGeom>
          <a:solidFill>
            <a:srgbClr val="FDF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800" y="4813300"/>
            <a:ext cx="38100" cy="952500"/>
          </a:xfrm>
          <a:prstGeom prst="rect">
            <a:avLst/>
          </a:prstGeom>
          <a:solidFill>
            <a:srgbClr val="A55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8700" y="4940300"/>
            <a:ext cx="5067300" cy="698500"/>
          </a:xfrm>
          <a:prstGeom prst="rect">
            <a:avLst/>
          </a:prstGeom>
          <a:noFill/>
        </p:spPr>
        <p:txBody>
          <a:bodyPr wrap="square" lIns="0" tIns="0" rIns="0" bIns="0" anchor="ctr">
            <a:spAutoFit/>
          </a:bodyPr>
          <a:lstStyle/>
          <a:p>
            <a:pPr algn="l">
              <a:lnSpc>
                <a:spcPct val="115000"/>
              </a:lnSpc>
            </a:pPr>
            <a:r>
              <a:rPr sz="1300" b="1">
                <a:solidFill>
                  <a:srgbClr val="16213A"/>
                </a:solidFill>
                <a:latin typeface="Calibri"/>
              </a:rPr>
              <a:t>Key fix: weight = log(1 + TIV).</a:t>
            </a:r>
            <a:r>
              <a:rPr sz="1300" b="0">
                <a:solidFill>
                  <a:srgbClr val="16213A"/>
                </a:solidFill>
                <a:latin typeface="Calibri"/>
              </a:rPr>
              <a:t> A few giant deals are 75,000× bigger than small ones. With raw numbers they drowned out everything and the result was worse than random. Now trading often counts more than one huge deal.</a:t>
            </a:r>
          </a:p>
        </p:txBody>
      </p:sp>
      <p:sp>
        <p:nvSpPr>
          <p:cNvPr id="8" name="Rectangle 7"/>
          <p:cNvSpPr/>
          <p:nvPr/>
        </p:nvSpPr>
        <p:spPr>
          <a:xfrm>
            <a:off x="6680200" y="1879600"/>
            <a:ext cx="4699000" cy="3365500"/>
          </a:xfrm>
          <a:prstGeom prst="rect">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fig10_graph_model.png"/>
          <p:cNvPicPr>
            <a:picLocks noChangeAspect="1"/>
          </p:cNvPicPr>
          <p:nvPr/>
        </p:nvPicPr>
        <p:blipFill>
          <a:blip r:embed="rId3"/>
          <a:stretch>
            <a:fillRect/>
          </a:stretch>
        </p:blipFill>
        <p:spPr>
          <a:xfrm>
            <a:off x="6681425" y="1879600"/>
            <a:ext cx="4696549" cy="3365500"/>
          </a:xfrm>
          <a:prstGeom prst="rect">
            <a:avLst/>
          </a:prstGeom>
        </p:spPr>
      </p:pic>
      <p:sp>
        <p:nvSpPr>
          <p:cNvPr id="10" name="TextBox 9"/>
          <p:cNvSpPr txBox="1"/>
          <p:nvPr/>
        </p:nvSpPr>
        <p:spPr>
          <a:xfrm>
            <a:off x="6680200" y="5321300"/>
            <a:ext cx="4699000" cy="444500"/>
          </a:xfrm>
          <a:prstGeom prst="rect">
            <a:avLst/>
          </a:prstGeom>
          <a:noFill/>
        </p:spPr>
        <p:txBody>
          <a:bodyPr wrap="square" lIns="0" tIns="0" rIns="0" bIns="0" anchor="t">
            <a:spAutoFit/>
          </a:bodyPr>
          <a:lstStyle/>
          <a:p>
            <a:pPr algn="l">
              <a:lnSpc>
                <a:spcPct val="115000"/>
              </a:lnSpc>
            </a:pPr>
            <a:r>
              <a:rPr sz="1200" b="0">
                <a:solidFill>
                  <a:srgbClr val="5F6878"/>
                </a:solidFill>
                <a:latin typeface="Calibri"/>
              </a:rPr>
              <a:t>The 1978–1987 graph (top 24 countries). Colour = group found. Most lines stay inside one colour; India sits in the middle, linked to both sides.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566400" cy="215900"/>
          </a:xfrm>
          <a:prstGeom prst="rect">
            <a:avLst/>
          </a:prstGeom>
          <a:noFill/>
        </p:spPr>
        <p:txBody>
          <a:bodyPr wrap="square" lIns="0" tIns="0" rIns="0" bIns="0" anchor="t">
            <a:spAutoFit/>
          </a:bodyPr>
          <a:lstStyle/>
          <a:p>
            <a:pPr algn="l">
              <a:lnSpc>
                <a:spcPct val="115000"/>
              </a:lnSpc>
            </a:pPr>
            <a:r>
              <a:rPr sz="1200" b="1">
                <a:solidFill>
                  <a:srgbClr val="2D5F9A"/>
                </a:solidFill>
                <a:latin typeface="Calibri"/>
              </a:rPr>
              <a:t>METHOD · SPECTRAL PARTITIONING</a:t>
            </a:r>
          </a:p>
        </p:txBody>
      </p:sp>
      <p:sp>
        <p:nvSpPr>
          <p:cNvPr id="3" name="TextBox 2"/>
          <p:cNvSpPr txBox="1"/>
          <p:nvPr/>
        </p:nvSpPr>
        <p:spPr>
          <a:xfrm>
            <a:off x="812800" y="1054100"/>
            <a:ext cx="10566400" cy="571500"/>
          </a:xfrm>
          <a:prstGeom prst="rect">
            <a:avLst/>
          </a:prstGeom>
          <a:noFill/>
        </p:spPr>
        <p:txBody>
          <a:bodyPr wrap="square" lIns="0" tIns="0" rIns="0" bIns="0" anchor="t">
            <a:spAutoFit/>
          </a:bodyPr>
          <a:lstStyle/>
          <a:p>
            <a:pPr algn="l">
              <a:lnSpc>
                <a:spcPct val="115000"/>
              </a:lnSpc>
            </a:pPr>
            <a:r>
              <a:rPr sz="3200" b="1">
                <a:solidFill>
                  <a:srgbClr val="16213A"/>
                </a:solidFill>
                <a:latin typeface="Georgia"/>
              </a:rPr>
              <a:t>Shake the graph, cut where it splits</a:t>
            </a:r>
          </a:p>
        </p:txBody>
      </p:sp>
      <p:sp>
        <p:nvSpPr>
          <p:cNvPr id="4" name="TextBox 3"/>
          <p:cNvSpPr txBox="1"/>
          <p:nvPr/>
        </p:nvSpPr>
        <p:spPr>
          <a:xfrm>
            <a:off x="812800" y="1816100"/>
            <a:ext cx="5588000" cy="1905000"/>
          </a:xfrm>
          <a:prstGeom prst="rect">
            <a:avLst/>
          </a:prstGeom>
          <a:noFill/>
        </p:spPr>
        <p:txBody>
          <a:bodyPr wrap="square" lIns="0" tIns="0" rIns="0" bIns="0" anchor="t">
            <a:spAutoFit/>
          </a:bodyPr>
          <a:lstStyle/>
          <a:p>
            <a:pPr algn="l">
              <a:lnSpc>
                <a:spcPct val="115000"/>
              </a:lnSpc>
            </a:pPr>
            <a:r>
              <a:rPr sz="1300" b="1">
                <a:solidFill>
                  <a:srgbClr val="3E4A5C"/>
                </a:solidFill>
                <a:latin typeface="Calibri"/>
              </a:rPr>
              <a:t>Goal:</a:t>
            </a:r>
            <a:r>
              <a:rPr sz="1300" b="0">
                <a:solidFill>
                  <a:srgbClr val="3E4A5C"/>
                </a:solidFill>
                <a:latin typeface="Calibri"/>
              </a:rPr>
              <a:t> cut the graph into two groups, cutting as few strong lines as possible. Trying every cut is impossible: 155 countries have about 2^154 ways to split. Spectral partitioning finds a good cut in one step.</a:t>
            </a:r>
          </a:p>
          <a:p>
            <a:pPr algn="l">
              <a:lnSpc>
                <a:spcPct val="115000"/>
              </a:lnSpc>
              <a:spcBef>
                <a:spcPts val="1000"/>
              </a:spcBef>
            </a:pPr>
            <a:r>
              <a:rPr sz="1300" b="1">
                <a:solidFill>
                  <a:srgbClr val="3E4A5C"/>
                </a:solidFill>
                <a:latin typeface="Calibri"/>
              </a:rPr>
              <a:t>Idea:</a:t>
            </a:r>
            <a:r>
              <a:rPr sz="1300" b="0">
                <a:solidFill>
                  <a:srgbClr val="3E4A5C"/>
                </a:solidFill>
                <a:latin typeface="Calibri"/>
              </a:rPr>
              <a:t> think of the lines as ropes and shake the whole graph. Countries tied tightly together move together. The slowest wobble moves one group up and the other group down.</a:t>
            </a:r>
          </a:p>
        </p:txBody>
      </p:sp>
      <p:sp>
        <p:nvSpPr>
          <p:cNvPr id="5" name="Rectangle 4"/>
          <p:cNvSpPr/>
          <p:nvPr/>
        </p:nvSpPr>
        <p:spPr>
          <a:xfrm>
            <a:off x="812800" y="3479800"/>
            <a:ext cx="5588000" cy="762000"/>
          </a:xfrm>
          <a:prstGeom prst="rect">
            <a:avLst/>
          </a:prstGeom>
          <a:solidFill>
            <a:srgbClr val="FDF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800" y="3479800"/>
            <a:ext cx="38100" cy="762000"/>
          </a:xfrm>
          <a:prstGeom prst="rect">
            <a:avLst/>
          </a:prstGeom>
          <a:solidFill>
            <a:srgbClr val="2D5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8700" y="3606800"/>
            <a:ext cx="5194300" cy="508000"/>
          </a:xfrm>
          <a:prstGeom prst="rect">
            <a:avLst/>
          </a:prstGeom>
          <a:noFill/>
        </p:spPr>
        <p:txBody>
          <a:bodyPr wrap="square" lIns="0" tIns="0" rIns="0" bIns="0" anchor="ctr">
            <a:spAutoFit/>
          </a:bodyPr>
          <a:lstStyle/>
          <a:p>
            <a:pPr algn="l">
              <a:lnSpc>
                <a:spcPct val="115000"/>
              </a:lnSpc>
            </a:pPr>
            <a:r>
              <a:rPr sz="1300" b="0">
                <a:solidFill>
                  <a:srgbClr val="16213A"/>
                </a:solidFill>
                <a:latin typeface="Calibri"/>
              </a:rPr>
              <a:t>That slowest wobble is the </a:t>
            </a:r>
            <a:r>
              <a:rPr sz="1300" b="1">
                <a:solidFill>
                  <a:srgbClr val="16213A"/>
                </a:solidFill>
                <a:latin typeface="Calibri"/>
              </a:rPr>
              <a:t>Fiedler vector</a:t>
            </a:r>
            <a:r>
              <a:rPr sz="1300" b="0">
                <a:solidFill>
                  <a:srgbClr val="16213A"/>
                </a:solidFill>
                <a:latin typeface="Calibri"/>
              </a:rPr>
              <a:t>, the 2nd eigenvector of the Laplacian. Each country gets one number: positive is one group, negative is the other.</a:t>
            </a:r>
          </a:p>
        </p:txBody>
      </p:sp>
      <p:sp>
        <p:nvSpPr>
          <p:cNvPr id="8" name="TextBox 7"/>
          <p:cNvSpPr txBox="1"/>
          <p:nvPr/>
        </p:nvSpPr>
        <p:spPr>
          <a:xfrm>
            <a:off x="812800" y="4356100"/>
            <a:ext cx="5588000" cy="444500"/>
          </a:xfrm>
          <a:prstGeom prst="rect">
            <a:avLst/>
          </a:prstGeom>
          <a:noFill/>
        </p:spPr>
        <p:txBody>
          <a:bodyPr wrap="square" lIns="0" tIns="0" rIns="0" bIns="0" anchor="t">
            <a:spAutoFit/>
          </a:bodyPr>
          <a:lstStyle/>
          <a:p>
            <a:pPr algn="l">
              <a:lnSpc>
                <a:spcPct val="115000"/>
              </a:lnSpc>
            </a:pPr>
            <a:r>
              <a:rPr sz="1200" b="1">
                <a:solidFill>
                  <a:srgbClr val="3E4A5C"/>
                </a:solidFill>
                <a:latin typeface="Calibri"/>
              </a:rPr>
              <a:t>Why this method:</a:t>
            </a:r>
            <a:r>
              <a:rPr sz="1200" b="0">
                <a:solidFill>
                  <a:srgbClr val="3E4A5C"/>
                </a:solidFill>
                <a:latin typeface="Calibri"/>
              </a:rPr>
              <a:t> it keeps strong links inside groups, uses the weights directly, and tells us how many groups there are. Normalised version by Ng, Jordan and Weiss (2002).</a:t>
            </a:r>
          </a:p>
        </p:txBody>
      </p:sp>
      <p:pic>
        <p:nvPicPr>
          <p:cNvPr id="9" name="Picture 8" descr="shot_village.png"/>
          <p:cNvPicPr>
            <a:picLocks noChangeAspect="1"/>
          </p:cNvPicPr>
          <p:nvPr/>
        </p:nvPicPr>
        <p:blipFill>
          <a:blip r:embed="rId3"/>
          <a:stretch>
            <a:fillRect/>
          </a:stretch>
        </p:blipFill>
        <p:spPr>
          <a:xfrm>
            <a:off x="6807200" y="1816100"/>
            <a:ext cx="4572000" cy="2571750"/>
          </a:xfrm>
          <a:prstGeom prst="rect">
            <a:avLst/>
          </a:prstGeom>
        </p:spPr>
      </p:pic>
      <p:sp>
        <p:nvSpPr>
          <p:cNvPr id="10" name="TextBox 9"/>
          <p:cNvSpPr txBox="1"/>
          <p:nvPr/>
        </p:nvSpPr>
        <p:spPr>
          <a:xfrm>
            <a:off x="6807200" y="4445000"/>
            <a:ext cx="4572000" cy="381000"/>
          </a:xfrm>
          <a:prstGeom prst="rect">
            <a:avLst/>
          </a:prstGeom>
          <a:noFill/>
        </p:spPr>
        <p:txBody>
          <a:bodyPr wrap="square" lIns="0" tIns="0" rIns="0" bIns="0" anchor="t">
            <a:spAutoFit/>
          </a:bodyPr>
          <a:lstStyle/>
          <a:p>
            <a:pPr algn="l">
              <a:lnSpc>
                <a:spcPct val="115000"/>
              </a:lnSpc>
            </a:pPr>
            <a:r>
              <a:rPr sz="1200" b="0">
                <a:solidFill>
                  <a:srgbClr val="5F6878"/>
                </a:solidFill>
                <a:latin typeface="Calibri"/>
              </a:rPr>
              <a:t>Our website’s toy village of 15 houses: after the shake, only 2 ropes are cut, the fewest possible.</a:t>
            </a:r>
          </a:p>
        </p:txBody>
      </p:sp>
      <p:sp>
        <p:nvSpPr>
          <p:cNvPr id="11" name="Rounded Rectangle 10"/>
          <p:cNvSpPr/>
          <p:nvPr/>
        </p:nvSpPr>
        <p:spPr>
          <a:xfrm>
            <a:off x="812800" y="4927600"/>
            <a:ext cx="2032000" cy="825500"/>
          </a:xfrm>
          <a:prstGeom prst="roundRect">
            <a:avLst>
              <a:gd name="adj" fmla="val 15000"/>
            </a:avLst>
          </a:prstGeom>
          <a:solidFill>
            <a:srgbClr val="16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52500" y="4991100"/>
            <a:ext cx="1752600" cy="698500"/>
          </a:xfrm>
          <a:prstGeom prst="rect">
            <a:avLst/>
          </a:prstGeom>
          <a:noFill/>
        </p:spPr>
        <p:txBody>
          <a:bodyPr wrap="square" lIns="0" tIns="0" rIns="0" bIns="0" anchor="ctr">
            <a:spAutoFit/>
          </a:bodyPr>
          <a:lstStyle/>
          <a:p>
            <a:pPr algn="l">
              <a:lnSpc>
                <a:spcPct val="110000"/>
              </a:lnSpc>
            </a:pPr>
            <a:r>
              <a:rPr sz="1200" b="1">
                <a:solidFill>
                  <a:srgbClr val="F0A35E"/>
                </a:solidFill>
                <a:latin typeface="Calibri"/>
              </a:rPr>
              <a:t>1</a:t>
            </a:r>
            <a:r>
              <a:rPr sz="1200" b="0">
                <a:solidFill>
                  <a:srgbClr val="F6F4EF"/>
                </a:solidFill>
                <a:latin typeface="Calibri"/>
              </a:rPr>
              <a:t>  Draw the map: countries are dots, deals are ropes</a:t>
            </a:r>
          </a:p>
        </p:txBody>
      </p:sp>
      <p:sp>
        <p:nvSpPr>
          <p:cNvPr id="13" name="Rounded Rectangle 12"/>
          <p:cNvSpPr/>
          <p:nvPr/>
        </p:nvSpPr>
        <p:spPr>
          <a:xfrm>
            <a:off x="2946400" y="4927600"/>
            <a:ext cx="2032000" cy="825500"/>
          </a:xfrm>
          <a:prstGeom prst="roundRect">
            <a:avLst>
              <a:gd name="adj" fmla="val 15000"/>
            </a:avLst>
          </a:prstGeom>
          <a:solidFill>
            <a:srgbClr val="16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086100" y="4991100"/>
            <a:ext cx="1752600" cy="698500"/>
          </a:xfrm>
          <a:prstGeom prst="rect">
            <a:avLst/>
          </a:prstGeom>
          <a:noFill/>
        </p:spPr>
        <p:txBody>
          <a:bodyPr wrap="square" lIns="0" tIns="0" rIns="0" bIns="0" anchor="ctr">
            <a:spAutoFit/>
          </a:bodyPr>
          <a:lstStyle/>
          <a:p>
            <a:pPr algn="l">
              <a:lnSpc>
                <a:spcPct val="110000"/>
              </a:lnSpc>
            </a:pPr>
            <a:r>
              <a:rPr sz="1200" b="1">
                <a:solidFill>
                  <a:srgbClr val="F0A35E"/>
                </a:solidFill>
                <a:latin typeface="Calibri"/>
              </a:rPr>
              <a:t>2</a:t>
            </a:r>
            <a:r>
              <a:rPr sz="1200" b="0">
                <a:solidFill>
                  <a:srgbClr val="F6F4EF"/>
                </a:solidFill>
                <a:latin typeface="Calibri"/>
              </a:rPr>
              <a:t>  Shake it: countries tied tightly move together</a:t>
            </a:r>
          </a:p>
        </p:txBody>
      </p:sp>
      <p:sp>
        <p:nvSpPr>
          <p:cNvPr id="15" name="Rounded Rectangle 14"/>
          <p:cNvSpPr/>
          <p:nvPr/>
        </p:nvSpPr>
        <p:spPr>
          <a:xfrm>
            <a:off x="5080000" y="4927600"/>
            <a:ext cx="2032000" cy="825500"/>
          </a:xfrm>
          <a:prstGeom prst="roundRect">
            <a:avLst>
              <a:gd name="adj" fmla="val 15000"/>
            </a:avLst>
          </a:prstGeom>
          <a:solidFill>
            <a:srgbClr val="16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19700" y="4991100"/>
            <a:ext cx="1752600" cy="698500"/>
          </a:xfrm>
          <a:prstGeom prst="rect">
            <a:avLst/>
          </a:prstGeom>
          <a:noFill/>
        </p:spPr>
        <p:txBody>
          <a:bodyPr wrap="square" lIns="0" tIns="0" rIns="0" bIns="0" anchor="ctr">
            <a:spAutoFit/>
          </a:bodyPr>
          <a:lstStyle/>
          <a:p>
            <a:pPr algn="l">
              <a:lnSpc>
                <a:spcPct val="110000"/>
              </a:lnSpc>
            </a:pPr>
            <a:r>
              <a:rPr sz="1200" b="1">
                <a:solidFill>
                  <a:srgbClr val="F0A35E"/>
                </a:solidFill>
                <a:latin typeface="Calibri"/>
              </a:rPr>
              <a:t>3</a:t>
            </a:r>
            <a:r>
              <a:rPr sz="1200" b="0">
                <a:solidFill>
                  <a:srgbClr val="F6F4EF"/>
                </a:solidFill>
                <a:latin typeface="Calibri"/>
              </a:rPr>
              <a:t>  Each country gets a number: how it moved</a:t>
            </a:r>
          </a:p>
        </p:txBody>
      </p:sp>
      <p:sp>
        <p:nvSpPr>
          <p:cNvPr id="17" name="Rounded Rectangle 16"/>
          <p:cNvSpPr/>
          <p:nvPr/>
        </p:nvSpPr>
        <p:spPr>
          <a:xfrm>
            <a:off x="7213600" y="4927600"/>
            <a:ext cx="2032000" cy="825500"/>
          </a:xfrm>
          <a:prstGeom prst="roundRect">
            <a:avLst>
              <a:gd name="adj" fmla="val 15000"/>
            </a:avLst>
          </a:prstGeom>
          <a:solidFill>
            <a:srgbClr val="16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53300" y="4991100"/>
            <a:ext cx="1752600" cy="698500"/>
          </a:xfrm>
          <a:prstGeom prst="rect">
            <a:avLst/>
          </a:prstGeom>
          <a:noFill/>
        </p:spPr>
        <p:txBody>
          <a:bodyPr wrap="square" lIns="0" tIns="0" rIns="0" bIns="0" anchor="ctr">
            <a:spAutoFit/>
          </a:bodyPr>
          <a:lstStyle/>
          <a:p>
            <a:pPr algn="l">
              <a:lnSpc>
                <a:spcPct val="110000"/>
              </a:lnSpc>
            </a:pPr>
            <a:r>
              <a:rPr sz="1200" b="1">
                <a:solidFill>
                  <a:srgbClr val="F0A35E"/>
                </a:solidFill>
                <a:latin typeface="Calibri"/>
              </a:rPr>
              <a:t>4</a:t>
            </a:r>
            <a:r>
              <a:rPr sz="1200" b="0">
                <a:solidFill>
                  <a:srgbClr val="F6F4EF"/>
                </a:solidFill>
                <a:latin typeface="Calibri"/>
              </a:rPr>
              <a:t>  Plus number = one side, minus number = the other</a:t>
            </a:r>
          </a:p>
        </p:txBody>
      </p:sp>
      <p:sp>
        <p:nvSpPr>
          <p:cNvPr id="19" name="Rounded Rectangle 18"/>
          <p:cNvSpPr/>
          <p:nvPr/>
        </p:nvSpPr>
        <p:spPr>
          <a:xfrm>
            <a:off x="9347200" y="4927600"/>
            <a:ext cx="2032000" cy="825500"/>
          </a:xfrm>
          <a:prstGeom prst="roundRect">
            <a:avLst>
              <a:gd name="adj" fmla="val 15000"/>
            </a:avLst>
          </a:prstGeom>
          <a:solidFill>
            <a:srgbClr val="16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86900" y="4991100"/>
            <a:ext cx="1752600" cy="698500"/>
          </a:xfrm>
          <a:prstGeom prst="rect">
            <a:avLst/>
          </a:prstGeom>
          <a:noFill/>
        </p:spPr>
        <p:txBody>
          <a:bodyPr wrap="square" lIns="0" tIns="0" rIns="0" bIns="0" anchor="ctr">
            <a:spAutoFit/>
          </a:bodyPr>
          <a:lstStyle/>
          <a:p>
            <a:pPr algn="l">
              <a:lnSpc>
                <a:spcPct val="110000"/>
              </a:lnSpc>
            </a:pPr>
            <a:r>
              <a:rPr sz="1200" b="1">
                <a:solidFill>
                  <a:srgbClr val="F0A35E"/>
                </a:solidFill>
                <a:latin typeface="Calibri"/>
              </a:rPr>
              <a:t>5</a:t>
            </a:r>
            <a:r>
              <a:rPr sz="1200" b="0">
                <a:solidFill>
                  <a:srgbClr val="F6F4EF"/>
                </a:solidFill>
                <a:latin typeface="Calibri"/>
              </a:rPr>
              <a:t>  Result: two sides, with the fewest ropes cut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566400" cy="215900"/>
          </a:xfrm>
          <a:prstGeom prst="rect">
            <a:avLst/>
          </a:prstGeom>
          <a:noFill/>
        </p:spPr>
        <p:txBody>
          <a:bodyPr wrap="square" lIns="0" tIns="0" rIns="0" bIns="0" anchor="t">
            <a:spAutoFit/>
          </a:bodyPr>
          <a:lstStyle/>
          <a:p>
            <a:pPr algn="l">
              <a:lnSpc>
                <a:spcPct val="115000"/>
              </a:lnSpc>
            </a:pPr>
            <a:r>
              <a:rPr sz="1200" b="1">
                <a:solidFill>
                  <a:srgbClr val="A5541A"/>
                </a:solidFill>
                <a:latin typeface="Calibri"/>
              </a:rPr>
              <a:t>RESULTS</a:t>
            </a:r>
          </a:p>
        </p:txBody>
      </p:sp>
      <p:sp>
        <p:nvSpPr>
          <p:cNvPr id="3" name="TextBox 2"/>
          <p:cNvSpPr txBox="1"/>
          <p:nvPr/>
        </p:nvSpPr>
        <p:spPr>
          <a:xfrm>
            <a:off x="812800" y="1054100"/>
            <a:ext cx="10566400" cy="571500"/>
          </a:xfrm>
          <a:prstGeom prst="rect">
            <a:avLst/>
          </a:prstGeom>
          <a:noFill/>
        </p:spPr>
        <p:txBody>
          <a:bodyPr wrap="square" lIns="0" tIns="0" rIns="0" bIns="0" anchor="t">
            <a:spAutoFit/>
          </a:bodyPr>
          <a:lstStyle/>
          <a:p>
            <a:pPr algn="l">
              <a:lnSpc>
                <a:spcPct val="115000"/>
              </a:lnSpc>
            </a:pPr>
            <a:r>
              <a:rPr sz="3200" b="1">
                <a:solidFill>
                  <a:srgbClr val="16213A"/>
                </a:solidFill>
                <a:latin typeface="Georgia"/>
              </a:rPr>
              <a:t>The world splits into two sides</a:t>
            </a:r>
          </a:p>
        </p:txBody>
      </p:sp>
      <p:graphicFrame>
        <p:nvGraphicFramePr>
          <p:cNvPr id="4" name="Table 3"/>
          <p:cNvGraphicFramePr>
            <a:graphicFrameLocks noGrp="1"/>
          </p:cNvGraphicFramePr>
          <p:nvPr/>
        </p:nvGraphicFramePr>
        <p:xfrm>
          <a:off x="812800" y="1879600"/>
          <a:ext cx="10566400" cy="1714500"/>
        </p:xfrm>
        <a:graphic>
          <a:graphicData uri="http://schemas.openxmlformats.org/drawingml/2006/table">
            <a:tbl>
              <a:tblPr firstRow="1" bandRow="1">
                <a:tableStyleId>{5C22544A-7EE6-4342-B048-85BDC9FD1C3A}</a:tableStyleId>
              </a:tblPr>
              <a:tblGrid>
                <a:gridCol w="1689100">
                  <a:extLst>
                    <a:ext uri="{9D8B030D-6E8A-4147-A177-3AD203B41FA5}">
                      <a16:colId xmlns:a16="http://schemas.microsoft.com/office/drawing/2014/main" val="20000"/>
                    </a:ext>
                  </a:extLst>
                </a:gridCol>
                <a:gridCol w="4438650">
                  <a:extLst>
                    <a:ext uri="{9D8B030D-6E8A-4147-A177-3AD203B41FA5}">
                      <a16:colId xmlns:a16="http://schemas.microsoft.com/office/drawing/2014/main" val="20001"/>
                    </a:ext>
                  </a:extLst>
                </a:gridCol>
                <a:gridCol w="4438650">
                  <a:extLst>
                    <a:ext uri="{9D8B030D-6E8A-4147-A177-3AD203B41FA5}">
                      <a16:colId xmlns:a16="http://schemas.microsoft.com/office/drawing/2014/main" val="20002"/>
                    </a:ext>
                  </a:extLst>
                </a:gridCol>
              </a:tblGrid>
              <a:tr h="381000">
                <a:tc>
                  <a:txBody>
                    <a:bodyPr/>
                    <a:lstStyle/>
                    <a:p>
                      <a:r>
                        <a:rPr sz="1400" b="1">
                          <a:solidFill>
                            <a:srgbClr val="F6F4EF"/>
                          </a:solidFill>
                          <a:latin typeface="Calibri"/>
                        </a:rPr>
                        <a:t>Years</a:t>
                      </a:r>
                    </a:p>
                  </a:txBody>
                  <a:tcPr marL="127000" marR="127000" anchor="ctr">
                    <a:solidFill>
                      <a:srgbClr val="16213A"/>
                    </a:solidFill>
                  </a:tcPr>
                </a:tc>
                <a:tc>
                  <a:txBody>
                    <a:bodyPr/>
                    <a:lstStyle/>
                    <a:p>
                      <a:r>
                        <a:rPr sz="1400" b="1">
                          <a:solidFill>
                            <a:srgbClr val="F0A35E"/>
                          </a:solidFill>
                          <a:latin typeface="Calibri"/>
                        </a:rPr>
                        <a:t>Group A · Soviet / Russia side</a:t>
                      </a:r>
                    </a:p>
                  </a:txBody>
                  <a:tcPr marL="127000" marR="127000" anchor="ctr">
                    <a:solidFill>
                      <a:srgbClr val="16213A"/>
                    </a:solidFill>
                  </a:tcPr>
                </a:tc>
                <a:tc>
                  <a:txBody>
                    <a:bodyPr/>
                    <a:lstStyle/>
                    <a:p>
                      <a:r>
                        <a:rPr sz="1400" b="1">
                          <a:solidFill>
                            <a:srgbClr val="8FB7E8"/>
                          </a:solidFill>
                          <a:latin typeface="Calibri"/>
                        </a:rPr>
                        <a:t>Group B · US side</a:t>
                      </a:r>
                    </a:p>
                  </a:txBody>
                  <a:tcPr marL="127000" marR="127000" anchor="ctr">
                    <a:solidFill>
                      <a:srgbClr val="16213A"/>
                    </a:solidFill>
                  </a:tcPr>
                </a:tc>
                <a:extLst>
                  <a:ext uri="{0D108BD9-81ED-4DB2-BD59-A6C34878D82A}">
                    <a16:rowId xmlns:a16="http://schemas.microsoft.com/office/drawing/2014/main" val="10000"/>
                  </a:ext>
                </a:extLst>
              </a:tr>
              <a:tr h="666750">
                <a:tc>
                  <a:txBody>
                    <a:bodyPr/>
                    <a:lstStyle/>
                    <a:p>
                      <a:r>
                        <a:rPr sz="1400" b="1">
                          <a:solidFill>
                            <a:srgbClr val="16213A"/>
                          </a:solidFill>
                          <a:latin typeface="Calibri"/>
                        </a:rPr>
                        <a:t>1956–1965</a:t>
                      </a:r>
                    </a:p>
                  </a:txBody>
                  <a:tcPr marL="127000" marR="127000" anchor="ctr">
                    <a:solidFill>
                      <a:srgbClr val="FDFCF9"/>
                    </a:solidFill>
                  </a:tcPr>
                </a:tc>
                <a:tc>
                  <a:txBody>
                    <a:bodyPr/>
                    <a:lstStyle/>
                    <a:p>
                      <a:r>
                        <a:rPr sz="1400" b="0">
                          <a:solidFill>
                            <a:srgbClr val="16213A"/>
                          </a:solidFill>
                          <a:latin typeface="Calibri"/>
                        </a:rPr>
                        <a:t>Soviet Union, China, Poland, East Germany, Czechoslovakia, Hungary</a:t>
                      </a:r>
                    </a:p>
                  </a:txBody>
                  <a:tcPr marL="127000" marR="127000" anchor="ctr">
                    <a:solidFill>
                      <a:srgbClr val="FDFCF9"/>
                    </a:solidFill>
                  </a:tcPr>
                </a:tc>
                <a:tc>
                  <a:txBody>
                    <a:bodyPr/>
                    <a:lstStyle/>
                    <a:p>
                      <a:r>
                        <a:rPr sz="1400" b="0">
                          <a:solidFill>
                            <a:srgbClr val="16213A"/>
                          </a:solidFill>
                          <a:latin typeface="Calibri"/>
                        </a:rPr>
                        <a:t>United States, United Kingdom, Germany, France, Italy, Japan</a:t>
                      </a:r>
                    </a:p>
                  </a:txBody>
                  <a:tcPr marL="127000" marR="127000" anchor="ctr">
                    <a:solidFill>
                      <a:srgbClr val="FDFCF9"/>
                    </a:solidFill>
                  </a:tcPr>
                </a:tc>
                <a:extLst>
                  <a:ext uri="{0D108BD9-81ED-4DB2-BD59-A6C34878D82A}">
                    <a16:rowId xmlns:a16="http://schemas.microsoft.com/office/drawing/2014/main" val="10001"/>
                  </a:ext>
                </a:extLst>
              </a:tr>
              <a:tr h="666750">
                <a:tc>
                  <a:txBody>
                    <a:bodyPr/>
                    <a:lstStyle/>
                    <a:p>
                      <a:r>
                        <a:rPr sz="1400" b="1">
                          <a:solidFill>
                            <a:srgbClr val="16213A"/>
                          </a:solidFill>
                          <a:latin typeface="Calibri"/>
                        </a:rPr>
                        <a:t>2016–2025</a:t>
                      </a:r>
                    </a:p>
                  </a:txBody>
                  <a:tcPr marL="127000" marR="127000" anchor="ctr">
                    <a:solidFill>
                      <a:srgbClr val="EFEBE3"/>
                    </a:solidFill>
                  </a:tcPr>
                </a:tc>
                <a:tc>
                  <a:txBody>
                    <a:bodyPr/>
                    <a:lstStyle/>
                    <a:p>
                      <a:r>
                        <a:rPr sz="1400" b="0">
                          <a:solidFill>
                            <a:srgbClr val="16213A"/>
                          </a:solidFill>
                          <a:latin typeface="Calibri"/>
                        </a:rPr>
                        <a:t>Russia, India, China, Egypt, Pakistan, Algeria</a:t>
                      </a:r>
                    </a:p>
                  </a:txBody>
                  <a:tcPr marL="127000" marR="127000" anchor="ctr">
                    <a:solidFill>
                      <a:srgbClr val="EFEBE3"/>
                    </a:solidFill>
                  </a:tcPr>
                </a:tc>
                <a:tc>
                  <a:txBody>
                    <a:bodyPr/>
                    <a:lstStyle/>
                    <a:p>
                      <a:r>
                        <a:rPr sz="1400" b="0">
                          <a:solidFill>
                            <a:srgbClr val="16213A"/>
                          </a:solidFill>
                          <a:latin typeface="Calibri"/>
                        </a:rPr>
                        <a:t>United States, France, Saudi Arabia, Germany, South Korea, Ukraine</a:t>
                      </a:r>
                    </a:p>
                  </a:txBody>
                  <a:tcPr marL="127000" marR="127000" anchor="ctr">
                    <a:solidFill>
                      <a:srgbClr val="EFEBE3"/>
                    </a:solidFill>
                  </a:tcPr>
                </a:tc>
                <a:extLst>
                  <a:ext uri="{0D108BD9-81ED-4DB2-BD59-A6C34878D82A}">
                    <a16:rowId xmlns:a16="http://schemas.microsoft.com/office/drawing/2014/main" val="10002"/>
                  </a:ext>
                </a:extLst>
              </a:tr>
            </a:tbl>
          </a:graphicData>
        </a:graphic>
      </p:graphicFrame>
      <p:sp>
        <p:nvSpPr>
          <p:cNvPr id="5" name="Rounded Rectangle 4"/>
          <p:cNvSpPr/>
          <p:nvPr/>
        </p:nvSpPr>
        <p:spPr>
          <a:xfrm>
            <a:off x="812800" y="3784600"/>
            <a:ext cx="5181600" cy="2032000"/>
          </a:xfrm>
          <a:prstGeom prst="roundRect">
            <a:avLst>
              <a:gd name="adj" fmla="val 6000"/>
            </a:avLst>
          </a:prstGeom>
          <a:solidFill>
            <a:srgbClr val="16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6800" y="3975100"/>
            <a:ext cx="4673600" cy="317500"/>
          </a:xfrm>
          <a:prstGeom prst="rect">
            <a:avLst/>
          </a:prstGeom>
          <a:noFill/>
        </p:spPr>
        <p:txBody>
          <a:bodyPr wrap="square" lIns="0" tIns="0" rIns="0" bIns="0" anchor="t">
            <a:spAutoFit/>
          </a:bodyPr>
          <a:lstStyle/>
          <a:p>
            <a:pPr algn="l">
              <a:lnSpc>
                <a:spcPct val="115000"/>
              </a:lnSpc>
            </a:pPr>
            <a:r>
              <a:rPr sz="2000" b="1">
                <a:solidFill>
                  <a:srgbClr val="F6F4EF"/>
                </a:solidFill>
                <a:latin typeface="Georgia"/>
              </a:rPr>
              <a:t>Never told about alliances</a:t>
            </a:r>
          </a:p>
        </p:txBody>
      </p:sp>
      <p:sp>
        <p:nvSpPr>
          <p:cNvPr id="7" name="TextBox 6"/>
          <p:cNvSpPr txBox="1"/>
          <p:nvPr/>
        </p:nvSpPr>
        <p:spPr>
          <a:xfrm>
            <a:off x="1066800" y="4356100"/>
            <a:ext cx="4673600" cy="1397000"/>
          </a:xfrm>
          <a:prstGeom prst="rect">
            <a:avLst/>
          </a:prstGeom>
          <a:noFill/>
        </p:spPr>
        <p:txBody>
          <a:bodyPr wrap="square" lIns="0" tIns="0" rIns="0" bIns="0" anchor="t">
            <a:spAutoFit/>
          </a:bodyPr>
          <a:lstStyle/>
          <a:p>
            <a:pPr algn="l">
              <a:lnSpc>
                <a:spcPct val="120000"/>
              </a:lnSpc>
            </a:pPr>
            <a:r>
              <a:rPr sz="1300" b="0">
                <a:solidFill>
                  <a:srgbClr val="B9C4D6"/>
                </a:solidFill>
                <a:latin typeface="Calibri"/>
              </a:rPr>
              <a:t>The program only saw who sold weapons to whom. Yet in the 1960s Group A is the Warsaw Pact and Group B is NATO. The two sides last the whole time from 1959 to 2025: one led by the Soviet Union (later Russia), one led by the United States.</a:t>
            </a:r>
          </a:p>
        </p:txBody>
      </p:sp>
      <p:sp>
        <p:nvSpPr>
          <p:cNvPr id="8" name="Rounded Rectangle 7"/>
          <p:cNvSpPr/>
          <p:nvPr/>
        </p:nvSpPr>
        <p:spPr>
          <a:xfrm>
            <a:off x="6197600" y="3784600"/>
            <a:ext cx="5181600" cy="2032000"/>
          </a:xfrm>
          <a:prstGeom prst="roundRect">
            <a:avLst>
              <a:gd name="adj" fmla="val 6000"/>
            </a:avLst>
          </a:prstGeom>
          <a:solidFill>
            <a:srgbClr val="FDFCF9"/>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51600" y="3975100"/>
            <a:ext cx="4673600" cy="317500"/>
          </a:xfrm>
          <a:prstGeom prst="rect">
            <a:avLst/>
          </a:prstGeom>
          <a:noFill/>
        </p:spPr>
        <p:txBody>
          <a:bodyPr wrap="square" lIns="0" tIns="0" rIns="0" bIns="0" anchor="t">
            <a:spAutoFit/>
          </a:bodyPr>
          <a:lstStyle/>
          <a:p>
            <a:pPr algn="l">
              <a:lnSpc>
                <a:spcPct val="115000"/>
              </a:lnSpc>
            </a:pPr>
            <a:r>
              <a:rPr sz="2000" b="1">
                <a:solidFill>
                  <a:srgbClr val="16213A"/>
                </a:solidFill>
                <a:latin typeface="Georgia"/>
              </a:rPr>
              <a:t>India sits in the middle</a:t>
            </a:r>
          </a:p>
        </p:txBody>
      </p:sp>
      <p:sp>
        <p:nvSpPr>
          <p:cNvPr id="10" name="TextBox 9"/>
          <p:cNvSpPr txBox="1"/>
          <p:nvPr/>
        </p:nvSpPr>
        <p:spPr>
          <a:xfrm>
            <a:off x="6451600" y="4356100"/>
            <a:ext cx="4673600" cy="1397000"/>
          </a:xfrm>
          <a:prstGeom prst="rect">
            <a:avLst/>
          </a:prstGeom>
          <a:noFill/>
        </p:spPr>
        <p:txBody>
          <a:bodyPr wrap="square" lIns="0" tIns="0" rIns="0" bIns="0" anchor="t">
            <a:spAutoFit/>
          </a:bodyPr>
          <a:lstStyle/>
          <a:p>
            <a:pPr algn="l">
              <a:lnSpc>
                <a:spcPct val="120000"/>
              </a:lnSpc>
            </a:pPr>
            <a:r>
              <a:rPr sz="1300" b="0">
                <a:solidFill>
                  <a:srgbClr val="3E4A5C"/>
                </a:solidFill>
                <a:latin typeface="Calibri"/>
              </a:rPr>
              <a:t>Some countries trade with both sides. We find them with betweenness centrality: how often a country lies on the path between two others. India is the clearest: in 1978–1987 its biggest seller was the Soviet Union, but it also bought from Britain, France and West Germany. </a:t>
            </a:r>
            <a:r>
              <a:rPr sz="1300" b="1">
                <a:solidFill>
                  <a:srgbClr val="3E4A5C"/>
                </a:solidFill>
                <a:latin typeface="Calibri"/>
              </a:rPr>
              <a:t>43%</a:t>
            </a:r>
            <a:r>
              <a:rPr sz="1300" b="0">
                <a:solidFill>
                  <a:srgbClr val="3E4A5C"/>
                </a:solidFill>
                <a:latin typeface="Calibri"/>
              </a:rPr>
              <a:t> of its trade crossed sides.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566400" cy="215900"/>
          </a:xfrm>
          <a:prstGeom prst="rect">
            <a:avLst/>
          </a:prstGeom>
          <a:noFill/>
        </p:spPr>
        <p:txBody>
          <a:bodyPr wrap="square" lIns="0" tIns="0" rIns="0" bIns="0" anchor="t">
            <a:spAutoFit/>
          </a:bodyPr>
          <a:lstStyle/>
          <a:p>
            <a:pPr algn="l">
              <a:lnSpc>
                <a:spcPct val="115000"/>
              </a:lnSpc>
            </a:pPr>
            <a:r>
              <a:rPr sz="1200" b="1">
                <a:solidFill>
                  <a:srgbClr val="A5541A"/>
                </a:solidFill>
                <a:latin typeface="Calibri"/>
              </a:rPr>
              <a:t>CHECKING THE RESULT</a:t>
            </a:r>
          </a:p>
        </p:txBody>
      </p:sp>
      <p:sp>
        <p:nvSpPr>
          <p:cNvPr id="3" name="TextBox 2"/>
          <p:cNvSpPr txBox="1"/>
          <p:nvPr/>
        </p:nvSpPr>
        <p:spPr>
          <a:xfrm>
            <a:off x="812800" y="1054100"/>
            <a:ext cx="10566400" cy="571500"/>
          </a:xfrm>
          <a:prstGeom prst="rect">
            <a:avLst/>
          </a:prstGeom>
          <a:noFill/>
        </p:spPr>
        <p:txBody>
          <a:bodyPr wrap="square" lIns="0" tIns="0" rIns="0" bIns="0" anchor="t">
            <a:spAutoFit/>
          </a:bodyPr>
          <a:lstStyle/>
          <a:p>
            <a:pPr algn="l">
              <a:lnSpc>
                <a:spcPct val="115000"/>
              </a:lnSpc>
            </a:pPr>
            <a:r>
              <a:rPr sz="3200" b="1">
                <a:solidFill>
                  <a:srgbClr val="16213A"/>
                </a:solidFill>
                <a:latin typeface="Georgia"/>
              </a:rPr>
              <a:t>Is it real, or just luck?</a:t>
            </a:r>
          </a:p>
        </p:txBody>
      </p:sp>
      <p:sp>
        <p:nvSpPr>
          <p:cNvPr id="4" name="TextBox 3"/>
          <p:cNvSpPr txBox="1"/>
          <p:nvPr/>
        </p:nvSpPr>
        <p:spPr>
          <a:xfrm>
            <a:off x="812800" y="1778000"/>
            <a:ext cx="10566400" cy="444500"/>
          </a:xfrm>
          <a:prstGeom prst="rect">
            <a:avLst/>
          </a:prstGeom>
          <a:noFill/>
        </p:spPr>
        <p:txBody>
          <a:bodyPr wrap="square" lIns="0" tIns="0" rIns="0" bIns="0" anchor="t">
            <a:spAutoFit/>
          </a:bodyPr>
          <a:lstStyle/>
          <a:p>
            <a:pPr algn="l">
              <a:lnSpc>
                <a:spcPct val="115000"/>
              </a:lnSpc>
            </a:pPr>
            <a:r>
              <a:rPr sz="1300" b="1">
                <a:solidFill>
                  <a:srgbClr val="3E4A5C"/>
                </a:solidFill>
                <a:latin typeface="Calibri"/>
              </a:rPr>
              <a:t>The test:</a:t>
            </a:r>
            <a:r>
              <a:rPr sz="1300" b="0">
                <a:solidFill>
                  <a:srgbClr val="3E4A5C"/>
                </a:solidFill>
                <a:latin typeface="Calibri"/>
              </a:rPr>
              <a:t> we made fake copies of the world: the same countries and the same number of deals, but joined at random, like shuffling a pack of cards. Then we ran the same steps on the fake copies, 10 times for every year.</a:t>
            </a:r>
          </a:p>
        </p:txBody>
      </p:sp>
      <p:sp>
        <p:nvSpPr>
          <p:cNvPr id="5" name="Rectangle 4"/>
          <p:cNvSpPr/>
          <p:nvPr/>
        </p:nvSpPr>
        <p:spPr>
          <a:xfrm>
            <a:off x="812800" y="2336800"/>
            <a:ext cx="6350000" cy="2692400"/>
          </a:xfrm>
          <a:prstGeom prst="rect">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11_validation.png"/>
          <p:cNvPicPr>
            <a:picLocks noChangeAspect="1"/>
          </p:cNvPicPr>
          <p:nvPr/>
        </p:nvPicPr>
        <p:blipFill>
          <a:blip r:embed="rId3"/>
          <a:stretch>
            <a:fillRect/>
          </a:stretch>
        </p:blipFill>
        <p:spPr>
          <a:xfrm>
            <a:off x="812799" y="2337989"/>
            <a:ext cx="6350000" cy="2690020"/>
          </a:xfrm>
          <a:prstGeom prst="rect">
            <a:avLst/>
          </a:prstGeom>
        </p:spPr>
      </p:pic>
      <p:sp>
        <p:nvSpPr>
          <p:cNvPr id="7" name="TextBox 6"/>
          <p:cNvSpPr txBox="1"/>
          <p:nvPr/>
        </p:nvSpPr>
        <p:spPr>
          <a:xfrm>
            <a:off x="812800" y="5105400"/>
            <a:ext cx="6350000" cy="635000"/>
          </a:xfrm>
          <a:prstGeom prst="rect">
            <a:avLst/>
          </a:prstGeom>
          <a:noFill/>
        </p:spPr>
        <p:txBody>
          <a:bodyPr wrap="square" lIns="0" tIns="0" rIns="0" bIns="0" anchor="t">
            <a:spAutoFit/>
          </a:bodyPr>
          <a:lstStyle/>
          <a:p>
            <a:pPr algn="l">
              <a:lnSpc>
                <a:spcPct val="115000"/>
              </a:lnSpc>
            </a:pPr>
            <a:r>
              <a:rPr sz="1200" b="0">
                <a:solidFill>
                  <a:srgbClr val="5F6878"/>
                </a:solidFill>
                <a:latin typeface="Calibri"/>
              </a:rPr>
              <a:t>Left: how many times clearer the real sides are than the fake ones, for every year. Right: how many countries stay on the same side the next year (blue = real world, red = fake copies).</a:t>
            </a:r>
            <a:r>
              <a:rPr sz="1200" b="1">
                <a:solidFill>
                  <a:srgbClr val="5F6878"/>
                </a:solidFill>
                <a:latin typeface="Calibri"/>
              </a:rPr>
              <a:t/>
            </a:r>
            <a:r>
              <a:rPr sz="1200" b="0">
                <a:solidFill>
                  <a:srgbClr val="5F6878"/>
                </a:solidFill>
                <a:latin typeface="Calibri"/>
              </a:rPr>
              <a:t/>
            </a:r>
          </a:p>
        </p:txBody>
      </p:sp>
      <p:sp>
        <p:nvSpPr>
          <p:cNvPr id="8" name="TextBox 7"/>
          <p:cNvSpPr txBox="1"/>
          <p:nvPr/>
        </p:nvSpPr>
        <p:spPr>
          <a:xfrm>
            <a:off x="7467600" y="2336800"/>
            <a:ext cx="3911600" cy="444500"/>
          </a:xfrm>
          <a:prstGeom prst="rect">
            <a:avLst/>
          </a:prstGeom>
          <a:noFill/>
        </p:spPr>
        <p:txBody>
          <a:bodyPr wrap="square" lIns="0" tIns="0" rIns="0" bIns="0" anchor="t">
            <a:spAutoFit/>
          </a:bodyPr>
          <a:lstStyle/>
          <a:p>
            <a:pPr algn="l">
              <a:lnSpc>
                <a:spcPct val="115000"/>
              </a:lnSpc>
            </a:pPr>
            <a:r>
              <a:rPr sz="3000" b="1">
                <a:solidFill>
                  <a:srgbClr val="2D5F9A"/>
                </a:solidFill>
                <a:latin typeface="Georgia"/>
              </a:rPr>
              <a:t>14×</a:t>
            </a:r>
          </a:p>
        </p:txBody>
      </p:sp>
      <p:sp>
        <p:nvSpPr>
          <p:cNvPr id="9" name="TextBox 8"/>
          <p:cNvSpPr txBox="1"/>
          <p:nvPr/>
        </p:nvSpPr>
        <p:spPr>
          <a:xfrm>
            <a:off x="7467600" y="2781300"/>
            <a:ext cx="3911600" cy="635000"/>
          </a:xfrm>
          <a:prstGeom prst="rect">
            <a:avLst/>
          </a:prstGeom>
          <a:noFill/>
        </p:spPr>
        <p:txBody>
          <a:bodyPr wrap="square" lIns="0" tIns="0" rIns="0" bIns="0" anchor="t">
            <a:spAutoFit/>
          </a:bodyPr>
          <a:lstStyle/>
          <a:p>
            <a:pPr algn="l">
              <a:lnSpc>
                <a:spcPct val="115000"/>
              </a:lnSpc>
            </a:pPr>
            <a:r>
              <a:rPr sz="1200" b="0">
                <a:solidFill>
                  <a:srgbClr val="3E4A5C"/>
                </a:solidFill>
                <a:latin typeface="Calibri"/>
              </a:rPr>
              <a:t>The real sides are about 14 times clearer than in the fake copies, and much clearer in every single year from 1959 to 2025.</a:t>
            </a:r>
          </a:p>
        </p:txBody>
      </p:sp>
      <p:sp>
        <p:nvSpPr>
          <p:cNvPr id="10" name="TextBox 9"/>
          <p:cNvSpPr txBox="1"/>
          <p:nvPr/>
        </p:nvSpPr>
        <p:spPr>
          <a:xfrm>
            <a:off x="7467600" y="3479800"/>
            <a:ext cx="3911600" cy="444500"/>
          </a:xfrm>
          <a:prstGeom prst="rect">
            <a:avLst/>
          </a:prstGeom>
          <a:noFill/>
        </p:spPr>
        <p:txBody>
          <a:bodyPr wrap="square" lIns="0" tIns="0" rIns="0" bIns="0" anchor="t">
            <a:spAutoFit/>
          </a:bodyPr>
          <a:lstStyle/>
          <a:p>
            <a:pPr algn="l">
              <a:lnSpc>
                <a:spcPct val="115000"/>
              </a:lnSpc>
            </a:pPr>
            <a:r>
              <a:rPr sz="3000" b="1">
                <a:solidFill>
                  <a:srgbClr val="2D5F9A"/>
                </a:solidFill>
                <a:latin typeface="Georgia"/>
              </a:rPr>
              <a:t>97 vs 55</a:t>
            </a:r>
          </a:p>
        </p:txBody>
      </p:sp>
      <p:sp>
        <p:nvSpPr>
          <p:cNvPr id="11" name="TextBox 10"/>
          <p:cNvSpPr txBox="1"/>
          <p:nvPr/>
        </p:nvSpPr>
        <p:spPr>
          <a:xfrm>
            <a:off x="7467600" y="3924300"/>
            <a:ext cx="3911600" cy="635000"/>
          </a:xfrm>
          <a:prstGeom prst="rect">
            <a:avLst/>
          </a:prstGeom>
          <a:noFill/>
        </p:spPr>
        <p:txBody>
          <a:bodyPr wrap="square" lIns="0" tIns="0" rIns="0" bIns="0" anchor="t">
            <a:spAutoFit/>
          </a:bodyPr>
          <a:lstStyle/>
          <a:p>
            <a:pPr algn="l">
              <a:lnSpc>
                <a:spcPct val="115000"/>
              </a:lnSpc>
            </a:pPr>
            <a:r>
              <a:rPr sz="1200" b="0">
                <a:solidFill>
                  <a:srgbClr val="3E4A5C"/>
                </a:solidFill>
                <a:latin typeface="Calibri"/>
              </a:rPr>
              <a:t>Out of 100 countries, 97 stay on the same side the next year. In the fake copies only 55 do, close to tossing a coin.</a:t>
            </a:r>
          </a:p>
        </p:txBody>
      </p:sp>
      <p:sp>
        <p:nvSpPr>
          <p:cNvPr id="12" name="TextBox 11"/>
          <p:cNvSpPr txBox="1"/>
          <p:nvPr/>
        </p:nvSpPr>
        <p:spPr>
          <a:xfrm>
            <a:off x="7467600" y="4622800"/>
            <a:ext cx="3911600" cy="444500"/>
          </a:xfrm>
          <a:prstGeom prst="rect">
            <a:avLst/>
          </a:prstGeom>
          <a:noFill/>
        </p:spPr>
        <p:txBody>
          <a:bodyPr wrap="square" lIns="0" tIns="0" rIns="0" bIns="0" anchor="t">
            <a:spAutoFit/>
          </a:bodyPr>
          <a:lstStyle/>
          <a:p>
            <a:pPr algn="l">
              <a:lnSpc>
                <a:spcPct val="115000"/>
              </a:lnSpc>
            </a:pPr>
            <a:r>
              <a:rPr sz="3000" b="1">
                <a:solidFill>
                  <a:srgbClr val="2D5F9A"/>
                </a:solidFill>
                <a:latin typeface="Georgia"/>
              </a:rPr>
              <a:t>18% vs 34%</a:t>
            </a:r>
          </a:p>
        </p:txBody>
      </p:sp>
      <p:sp>
        <p:nvSpPr>
          <p:cNvPr id="13" name="TextBox 12"/>
          <p:cNvSpPr txBox="1"/>
          <p:nvPr/>
        </p:nvSpPr>
        <p:spPr>
          <a:xfrm>
            <a:off x="7467600" y="5067300"/>
            <a:ext cx="3911600" cy="635000"/>
          </a:xfrm>
          <a:prstGeom prst="rect">
            <a:avLst/>
          </a:prstGeom>
          <a:noFill/>
        </p:spPr>
        <p:txBody>
          <a:bodyPr wrap="square" lIns="0" tIns="0" rIns="0" bIns="0" anchor="t">
            <a:spAutoFit/>
          </a:bodyPr>
          <a:lstStyle/>
          <a:p>
            <a:pPr algn="l">
              <a:lnSpc>
                <a:spcPct val="115000"/>
              </a:lnSpc>
            </a:pPr>
            <a:r>
              <a:rPr sz="1200" b="0">
                <a:solidFill>
                  <a:srgbClr val="3E4A5C"/>
                </a:solidFill>
                <a:latin typeface="Calibri"/>
              </a:rPr>
              <a:t>In 1987 only 18 out of 100 trade links crossed between the two sides. In a fake copy, 34 did.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6213A"/>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566400" cy="215900"/>
          </a:xfrm>
          <a:prstGeom prst="rect">
            <a:avLst/>
          </a:prstGeom>
          <a:noFill/>
        </p:spPr>
        <p:txBody>
          <a:bodyPr wrap="square" lIns="0" tIns="0" rIns="0" bIns="0" anchor="t">
            <a:spAutoFit/>
          </a:bodyPr>
          <a:lstStyle/>
          <a:p>
            <a:pPr algn="l">
              <a:lnSpc>
                <a:spcPct val="115000"/>
              </a:lnSpc>
            </a:pPr>
            <a:r>
              <a:rPr sz="1200" b="1">
                <a:solidFill>
                  <a:srgbClr val="F0A35E"/>
                </a:solidFill>
                <a:latin typeface="Calibri"/>
              </a:rPr>
              <a:t>CONCLUSION · BOTH SPEAKERS</a:t>
            </a:r>
          </a:p>
        </p:txBody>
      </p:sp>
      <p:sp>
        <p:nvSpPr>
          <p:cNvPr id="3" name="TextBox 2"/>
          <p:cNvSpPr txBox="1"/>
          <p:nvPr/>
        </p:nvSpPr>
        <p:spPr>
          <a:xfrm>
            <a:off x="812800" y="1054100"/>
            <a:ext cx="10566400" cy="571500"/>
          </a:xfrm>
          <a:prstGeom prst="rect">
            <a:avLst/>
          </a:prstGeom>
          <a:noFill/>
        </p:spPr>
        <p:txBody>
          <a:bodyPr wrap="square" lIns="0" tIns="0" rIns="0" bIns="0" anchor="t">
            <a:spAutoFit/>
          </a:bodyPr>
          <a:lstStyle/>
          <a:p>
            <a:pPr algn="l">
              <a:lnSpc>
                <a:spcPct val="115000"/>
              </a:lnSpc>
            </a:pPr>
            <a:r>
              <a:rPr sz="3200" b="1">
                <a:solidFill>
                  <a:srgbClr val="F6F4EF"/>
                </a:solidFill>
                <a:latin typeface="Georgia"/>
              </a:rPr>
              <a:t>What we learned</a:t>
            </a:r>
          </a:p>
        </p:txBody>
      </p:sp>
      <p:sp>
        <p:nvSpPr>
          <p:cNvPr id="4" name="TextBox 3"/>
          <p:cNvSpPr txBox="1"/>
          <p:nvPr/>
        </p:nvSpPr>
        <p:spPr>
          <a:xfrm>
            <a:off x="812800" y="1841500"/>
            <a:ext cx="5588000" cy="952500"/>
          </a:xfrm>
          <a:prstGeom prst="rect">
            <a:avLst/>
          </a:prstGeom>
          <a:noFill/>
        </p:spPr>
        <p:txBody>
          <a:bodyPr wrap="square" lIns="0" tIns="0" rIns="0" bIns="0" anchor="t">
            <a:spAutoFit/>
          </a:bodyPr>
          <a:lstStyle/>
          <a:p>
            <a:pPr algn="l">
              <a:lnSpc>
                <a:spcPct val="120000"/>
              </a:lnSpc>
            </a:pPr>
            <a:r>
              <a:rPr sz="1300" b="0">
                <a:solidFill>
                  <a:srgbClr val="F6F4EF"/>
                </a:solidFill>
                <a:latin typeface="Calibri"/>
              </a:rPr>
              <a:t>We modelled the world weapons trade as a graph, with countries as nodes and deals as weighted edges. Spectral partitioning split it into </a:t>
            </a:r>
            <a:r>
              <a:rPr sz="1300" b="1">
                <a:solidFill>
                  <a:srgbClr val="F6F4EF"/>
                </a:solidFill>
                <a:latin typeface="Calibri"/>
              </a:rPr>
              <a:t>two sides in every year</a:t>
            </a:r>
            <a:r>
              <a:rPr sz="1300" b="0">
                <a:solidFill>
                  <a:srgbClr val="F6F4EF"/>
                </a:solidFill>
                <a:latin typeface="Calibri"/>
              </a:rPr>
              <a:t>, matching the real Cold War blocs and far stronger than random. Graph mining can find real political groups from trade data alone.</a:t>
            </a:r>
          </a:p>
        </p:txBody>
      </p:sp>
      <p:sp>
        <p:nvSpPr>
          <p:cNvPr id="5" name="Rectangle 4"/>
          <p:cNvSpPr/>
          <p:nvPr/>
        </p:nvSpPr>
        <p:spPr>
          <a:xfrm>
            <a:off x="812800" y="2933700"/>
            <a:ext cx="5588000" cy="1079500"/>
          </a:xfrm>
          <a:prstGeom prst="rect">
            <a:avLst/>
          </a:prstGeom>
          <a:solidFill>
            <a:srgbClr val="2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800" y="2933700"/>
            <a:ext cx="38100" cy="1079500"/>
          </a:xfrm>
          <a:prstGeom prst="rect">
            <a:avLst/>
          </a:prstGeom>
          <a:solidFill>
            <a:srgbClr val="F0A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8700" y="3060700"/>
            <a:ext cx="5194300" cy="825500"/>
          </a:xfrm>
          <a:prstGeom prst="rect">
            <a:avLst/>
          </a:prstGeom>
          <a:noFill/>
        </p:spPr>
        <p:txBody>
          <a:bodyPr wrap="square" lIns="0" tIns="0" rIns="0" bIns="0" anchor="ctr">
            <a:spAutoFit/>
          </a:bodyPr>
          <a:lstStyle/>
          <a:p>
            <a:pPr algn="l">
              <a:lnSpc>
                <a:spcPct val="115000"/>
              </a:lnSpc>
            </a:pPr>
            <a:r>
              <a:rPr sz="1300" b="1">
                <a:solidFill>
                  <a:srgbClr val="F6F4EF"/>
                </a:solidFill>
                <a:latin typeface="Calibri"/>
              </a:rPr>
              <a:t>Biggest lesson:</a:t>
            </a:r>
            <a:r>
              <a:rPr sz="1300" b="0">
                <a:solidFill>
                  <a:srgbClr val="F6F4EF"/>
                </a:solidFill>
                <a:latin typeface="Calibri"/>
              </a:rPr>
              <a:t> how you build the graph matters more than the algorithm. Raw weights failed; one small change, the logarithm, made it work.</a:t>
            </a:r>
          </a:p>
          <a:p>
            <a:pPr algn="l">
              <a:lnSpc>
                <a:spcPct val="115000"/>
              </a:lnSpc>
            </a:pPr>
            <a:r>
              <a:rPr sz="1300" b="0">
                <a:solidFill>
                  <a:srgbClr val="F6F4EF"/>
                </a:solidFill>
                <a:latin typeface="Calibri"/>
              </a:rPr>
              <a:t>Testing against shuffled networks taught us to prove a result, not just show it.</a:t>
            </a:r>
          </a:p>
        </p:txBody>
      </p:sp>
      <p:sp>
        <p:nvSpPr>
          <p:cNvPr id="8" name="TextBox 7"/>
          <p:cNvSpPr txBox="1"/>
          <p:nvPr/>
        </p:nvSpPr>
        <p:spPr>
          <a:xfrm>
            <a:off x="812800" y="4152900"/>
            <a:ext cx="5588000" cy="889000"/>
          </a:xfrm>
          <a:prstGeom prst="rect">
            <a:avLst/>
          </a:prstGeom>
          <a:noFill/>
        </p:spPr>
        <p:txBody>
          <a:bodyPr wrap="square" lIns="0" tIns="0" rIns="0" bIns="0" anchor="t">
            <a:spAutoFit/>
          </a:bodyPr>
          <a:lstStyle/>
          <a:p>
            <a:pPr algn="l">
              <a:lnSpc>
                <a:spcPct val="110000"/>
              </a:lnSpc>
            </a:pPr>
            <a:r>
              <a:rPr sz="1200" b="1">
                <a:solidFill>
                  <a:srgbClr val="F0A35E"/>
                </a:solidFill>
                <a:latin typeface="Calibri"/>
              </a:rPr>
              <a:t>Limits</a:t>
            </a:r>
          </a:p>
          <a:p>
            <a:pPr algn="l">
              <a:lnSpc>
                <a:spcPct val="110000"/>
              </a:lnSpc>
              <a:spcBef>
                <a:spcPts val="200"/>
              </a:spcBef>
            </a:pPr>
            <a:r>
              <a:rPr sz="1200" b="0">
                <a:solidFill>
                  <a:srgbClr val="B9C4D6"/>
                </a:solidFill>
                <a:latin typeface="Calibri"/>
              </a:rPr>
              <a:t>•  Every country gets exactly one group, even neutral ones</a:t>
            </a:r>
          </a:p>
          <a:p>
            <a:pPr algn="l">
              <a:lnSpc>
                <a:spcPct val="110000"/>
              </a:lnSpc>
              <a:spcBef>
                <a:spcPts val="200"/>
              </a:spcBef>
            </a:pPr>
            <a:r>
              <a:rPr sz="1200" b="0">
                <a:solidFill>
                  <a:srgbClr val="B9C4D6"/>
                </a:solidFill>
                <a:latin typeface="Calibri"/>
              </a:rPr>
              <a:t>•  SIPRI counts only major weapons, not small arms</a:t>
            </a:r>
          </a:p>
          <a:p>
            <a:pPr algn="l">
              <a:lnSpc>
                <a:spcPct val="110000"/>
              </a:lnSpc>
              <a:spcBef>
                <a:spcPts val="200"/>
              </a:spcBef>
            </a:pPr>
            <a:r>
              <a:rPr sz="1200" b="0">
                <a:solidFill>
                  <a:srgbClr val="B9C4D6"/>
                </a:solidFill>
                <a:latin typeface="Calibri"/>
              </a:rPr>
              <a:t>•  The 10-year window makes changes show up slowly</a:t>
            </a:r>
          </a:p>
        </p:txBody>
      </p:sp>
      <p:sp>
        <p:nvSpPr>
          <p:cNvPr id="9" name="TextBox 8"/>
          <p:cNvSpPr txBox="1"/>
          <p:nvPr/>
        </p:nvSpPr>
        <p:spPr>
          <a:xfrm>
            <a:off x="812800" y="5194300"/>
            <a:ext cx="5588000" cy="508000"/>
          </a:xfrm>
          <a:prstGeom prst="rect">
            <a:avLst/>
          </a:prstGeom>
          <a:noFill/>
        </p:spPr>
        <p:txBody>
          <a:bodyPr wrap="square" lIns="0" tIns="0" rIns="0" bIns="0" anchor="t">
            <a:spAutoFit/>
          </a:bodyPr>
          <a:lstStyle/>
          <a:p>
            <a:pPr algn="l">
              <a:lnSpc>
                <a:spcPct val="115000"/>
              </a:lnSpc>
            </a:pPr>
            <a:r>
              <a:rPr sz="1200" b="1">
                <a:solidFill>
                  <a:srgbClr val="F0A35E"/>
                </a:solidFill>
                <a:latin typeface="Calibri"/>
              </a:rPr>
              <a:t>Cost:</a:t>
            </a:r>
            <a:r>
              <a:rPr sz="1200" b="0">
                <a:solidFill>
                  <a:srgbClr val="B9C4D6"/>
                </a:solidFill>
                <a:latin typeface="Calibri"/>
              </a:rPr>
              <a:t> time O(n³), space O(n²). With n ≤ 174, all 67 years plus the shuffled tests run in about 97 seconds (Python, NumPy, SciPy, scikit-learn).</a:t>
            </a:r>
          </a:p>
        </p:txBody>
      </p:sp>
      <p:pic>
        <p:nvPicPr>
          <p:cNvPr id="10" name="Picture 9" descr="shot_globe.png"/>
          <p:cNvPicPr>
            <a:picLocks noChangeAspect="1"/>
          </p:cNvPicPr>
          <p:nvPr/>
        </p:nvPicPr>
        <p:blipFill>
          <a:blip r:embed="rId3"/>
          <a:stretch>
            <a:fillRect/>
          </a:stretch>
        </p:blipFill>
        <p:spPr>
          <a:xfrm>
            <a:off x="6807200" y="1879600"/>
            <a:ext cx="4572000" cy="2571750"/>
          </a:xfrm>
          <a:prstGeom prst="rect">
            <a:avLst/>
          </a:prstGeom>
        </p:spPr>
      </p:pic>
      <p:sp>
        <p:nvSpPr>
          <p:cNvPr id="11" name="TextBox 10"/>
          <p:cNvSpPr txBox="1"/>
          <p:nvPr/>
        </p:nvSpPr>
        <p:spPr>
          <a:xfrm>
            <a:off x="6807200" y="4521200"/>
            <a:ext cx="4572000" cy="444500"/>
          </a:xfrm>
          <a:prstGeom prst="rect">
            <a:avLst/>
          </a:prstGeom>
          <a:noFill/>
        </p:spPr>
        <p:txBody>
          <a:bodyPr wrap="square" lIns="0" tIns="0" rIns="0" bIns="0" anchor="t">
            <a:spAutoFit/>
          </a:bodyPr>
          <a:lstStyle/>
          <a:p>
            <a:pPr algn="l">
              <a:lnSpc>
                <a:spcPct val="115000"/>
              </a:lnSpc>
            </a:pPr>
            <a:r>
              <a:rPr sz="1200" b="0">
                <a:solidFill>
                  <a:srgbClr val="B9C4D6"/>
                </a:solidFill>
                <a:latin typeface="Calibri"/>
              </a:rPr>
              <a:t>Our website explains it all: a toy village first, then the real data on a 3D globe.</a:t>
            </a:r>
          </a:p>
        </p:txBody>
      </p:sp>
      <p:sp>
        <p:nvSpPr>
          <p:cNvPr id="12" name="TextBox 11"/>
          <p:cNvSpPr txBox="1"/>
          <p:nvPr/>
        </p:nvSpPr>
        <p:spPr>
          <a:xfrm>
            <a:off x="6807200" y="5016500"/>
            <a:ext cx="4572000" cy="254000"/>
          </a:xfrm>
          <a:prstGeom prst="rect">
            <a:avLst/>
          </a:prstGeom>
          <a:noFill/>
        </p:spPr>
        <p:txBody>
          <a:bodyPr wrap="square" lIns="0" tIns="0" rIns="0" bIns="0" anchor="t">
            <a:spAutoFit/>
          </a:bodyPr>
          <a:lstStyle/>
          <a:p>
            <a:pPr algn="l">
              <a:lnSpc>
                <a:spcPct val="115000"/>
              </a:lnSpc>
            </a:pPr>
            <a:r>
              <a:rPr sz="1400" b="0">
                <a:solidFill>
                  <a:srgbClr val="B9C4D6"/>
                </a:solidFill>
                <a:latin typeface="Calibri"/>
              </a:rPr>
              <a:t>Try it: </a:t>
            </a:r>
            <a:r>
              <a:rPr sz="1400" b="1">
                <a:solidFill>
                  <a:srgbClr val="8FB7E8"/>
                </a:solidFill>
                <a:latin typeface="Calibri"/>
              </a:rPr>
              <a:t>arms.armstrade.workers.dev</a:t>
            </a:r>
          </a:p>
        </p:txBody>
      </p:sp>
      <p:sp>
        <p:nvSpPr>
          <p:cNvPr id="14" name="TextBox 13"/>
          <p:cNvSpPr txBox="1"/>
          <p:nvPr/>
        </p:nvSpPr>
        <p:spPr>
          <a:xfrm>
            <a:off x="812800" y="6235700"/>
            <a:ext cx="9525000" cy="215900"/>
          </a:xfrm>
          <a:prstGeom prst="rect">
            <a:avLst/>
          </a:prstGeom>
          <a:noFill/>
        </p:spPr>
        <p:txBody>
          <a:bodyPr wrap="square" lIns="0" tIns="0" rIns="0" bIns="0" anchor="t">
            <a:spAutoFit/>
          </a:bodyPr>
          <a:lstStyle/>
          <a:p>
            <a:pPr algn="l">
              <a:lnSpc>
                <a:spcPct val="115000"/>
              </a:lnSpc>
            </a:pPr>
            <a:r>
              <a:rPr sz="1200" b="0" dirty="0">
                <a:solidFill>
                  <a:srgbClr val="B9C4D6"/>
                </a:solidFill>
                <a:latin typeface="Calibri"/>
              </a:rPr>
              <a:t>References: SIPRI Arms Transfers Database · von </a:t>
            </a:r>
            <a:r>
              <a:rPr sz="1200" b="0" dirty="0" err="1">
                <a:solidFill>
                  <a:srgbClr val="B9C4D6"/>
                </a:solidFill>
                <a:latin typeface="Calibri"/>
              </a:rPr>
              <a:t>Luxburg</a:t>
            </a:r>
            <a:r>
              <a:rPr sz="1200" b="0" dirty="0">
                <a:solidFill>
                  <a:srgbClr val="B9C4D6"/>
                </a:solidFill>
                <a:latin typeface="Calibri"/>
              </a:rPr>
              <a:t> 2007 · Ng, Jordan &amp; Weiss 2002 · Shi &amp; Malik 2000 · Fiedler 1973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2885</Words>
  <Application>Microsoft Office PowerPoint</Application>
  <PresentationFormat>Widescreen</PresentationFormat>
  <Paragraphs>110</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Sudhakar Mylapore</cp:lastModifiedBy>
  <cp:revision>2</cp:revision>
  <dcterms:created xsi:type="dcterms:W3CDTF">2013-01-27T09:14:16Z</dcterms:created>
  <dcterms:modified xsi:type="dcterms:W3CDTF">2026-10-07T10:49:20Z</dcterms:modified>
  <cp:category/>
</cp:coreProperties>
</file>